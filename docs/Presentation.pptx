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5" r:id="rId3"/>
    <p:sldId id="257" r:id="rId4"/>
    <p:sldId id="270" r:id="rId5"/>
    <p:sldId id="267" r:id="rId6"/>
    <p:sldId id="268" r:id="rId7"/>
    <p:sldId id="269" r:id="rId8"/>
    <p:sldId id="258" r:id="rId9"/>
    <p:sldId id="260" r:id="rId10"/>
    <p:sldId id="272" r:id="rId11"/>
    <p:sldId id="280" r:id="rId12"/>
    <p:sldId id="281" r:id="rId13"/>
    <p:sldId id="282" r:id="rId14"/>
    <p:sldId id="287" r:id="rId15"/>
    <p:sldId id="288" r:id="rId16"/>
    <p:sldId id="275" r:id="rId17"/>
    <p:sldId id="286" r:id="rId18"/>
    <p:sldId id="271" r:id="rId19"/>
    <p:sldId id="274" r:id="rId20"/>
    <p:sldId id="283" r:id="rId21"/>
    <p:sldId id="277" r:id="rId22"/>
    <p:sldId id="289" r:id="rId23"/>
    <p:sldId id="279" r:id="rId24"/>
    <p:sldId id="26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5" d="100"/>
          <a:sy n="75" d="100"/>
        </p:scale>
        <p:origin x="82"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11/26/2020</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11/26/2020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11/26/2020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11/26/2020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11/26/2020</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F1E07-6E75-4E50-9471-F16046CF2B29}"/>
              </a:ext>
            </a:extLst>
          </p:cNvPr>
          <p:cNvSpPr>
            <a:spLocks noGrp="1"/>
          </p:cNvSpPr>
          <p:nvPr>
            <p:ph type="ctrTitle"/>
          </p:nvPr>
        </p:nvSpPr>
        <p:spPr/>
        <p:txBody>
          <a:bodyPr>
            <a:normAutofit/>
          </a:bodyPr>
          <a:lstStyle/>
          <a:p>
            <a:r>
              <a:rPr lang="en-IN" sz="3200" dirty="0">
                <a:solidFill>
                  <a:schemeClr val="bg1"/>
                </a:solidFill>
                <a:latin typeface="Times New Roman" panose="02020603050405020304" pitchFamily="18" charset="0"/>
                <a:cs typeface="Times New Roman" panose="02020603050405020304" pitchFamily="18" charset="0"/>
              </a:rPr>
              <a:t> Iot based hazardous gas monitoring </a:t>
            </a:r>
            <a:br>
              <a:rPr lang="en-IN" sz="3200" dirty="0">
                <a:solidFill>
                  <a:schemeClr val="bg1"/>
                </a:solidFill>
                <a:latin typeface="Times New Roman" panose="02020603050405020304" pitchFamily="18" charset="0"/>
                <a:cs typeface="Times New Roman" panose="02020603050405020304" pitchFamily="18" charset="0"/>
              </a:rPr>
            </a:br>
            <a:r>
              <a:rPr lang="en-IN" sz="3200" dirty="0">
                <a:solidFill>
                  <a:schemeClr val="bg1"/>
                </a:solidFill>
                <a:latin typeface="Times New Roman" panose="02020603050405020304" pitchFamily="18" charset="0"/>
                <a:cs typeface="Times New Roman" panose="02020603050405020304" pitchFamily="18" charset="0"/>
              </a:rPr>
              <a:t>                                system</a:t>
            </a:r>
          </a:p>
        </p:txBody>
      </p:sp>
      <p:sp>
        <p:nvSpPr>
          <p:cNvPr id="3" name="Subtitle 2">
            <a:extLst>
              <a:ext uri="{FF2B5EF4-FFF2-40B4-BE49-F238E27FC236}">
                <a16:creationId xmlns:a16="http://schemas.microsoft.com/office/drawing/2014/main" id="{B8384672-3821-45B7-AE25-E0A090D04390}"/>
              </a:ext>
            </a:extLst>
          </p:cNvPr>
          <p:cNvSpPr>
            <a:spLocks noGrp="1"/>
          </p:cNvSpPr>
          <p:nvPr>
            <p:ph type="subTitle" idx="1"/>
          </p:nvPr>
        </p:nvSpPr>
        <p:spPr>
          <a:xfrm>
            <a:off x="4280170" y="858838"/>
            <a:ext cx="6660203" cy="892141"/>
          </a:xfrm>
        </p:spPr>
        <p:txBody>
          <a:bodyPr>
            <a:normAutofit/>
          </a:bodyPr>
          <a:lstStyle/>
          <a:p>
            <a:r>
              <a:rPr lang="en-IN" sz="3200" dirty="0">
                <a:solidFill>
                  <a:schemeClr val="bg1"/>
                </a:solidFill>
                <a:latin typeface="Times New Roman" panose="02020603050405020304" pitchFamily="18" charset="0"/>
                <a:cs typeface="Times New Roman" panose="02020603050405020304" pitchFamily="18" charset="0"/>
              </a:rPr>
              <a:t>Presentation on:</a:t>
            </a:r>
          </a:p>
        </p:txBody>
      </p:sp>
    </p:spTree>
    <p:extLst>
      <p:ext uri="{BB962C8B-B14F-4D97-AF65-F5344CB8AC3E}">
        <p14:creationId xmlns:p14="http://schemas.microsoft.com/office/powerpoint/2010/main" val="39261780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799EF-23AC-4EAF-B100-BA8D140777FE}"/>
              </a:ext>
            </a:extLst>
          </p:cNvPr>
          <p:cNvSpPr>
            <a:spLocks noGrp="1"/>
          </p:cNvSpPr>
          <p:nvPr>
            <p:ph type="title"/>
          </p:nvPr>
        </p:nvSpPr>
        <p:spPr/>
        <p:txBody>
          <a:bodyPr/>
          <a:lstStyle/>
          <a:p>
            <a:r>
              <a:rPr lang="en-IN" dirty="0">
                <a:solidFill>
                  <a:schemeClr val="bg1"/>
                </a:solidFill>
                <a:latin typeface="Times New Roman" panose="02020603050405020304" pitchFamily="18" charset="0"/>
                <a:cs typeface="Times New Roman" panose="02020603050405020304" pitchFamily="18" charset="0"/>
              </a:rPr>
              <a:t>Group no. 13</a:t>
            </a:r>
          </a:p>
        </p:txBody>
      </p:sp>
      <p:sp>
        <p:nvSpPr>
          <p:cNvPr id="3" name="Content Placeholder 2">
            <a:extLst>
              <a:ext uri="{FF2B5EF4-FFF2-40B4-BE49-F238E27FC236}">
                <a16:creationId xmlns:a16="http://schemas.microsoft.com/office/drawing/2014/main" id="{5034EC51-2C69-426D-AF95-75FFCE586A46}"/>
              </a:ext>
            </a:extLst>
          </p:cNvPr>
          <p:cNvSpPr>
            <a:spLocks noGrp="1"/>
          </p:cNvSpPr>
          <p:nvPr>
            <p:ph sz="half" idx="1"/>
          </p:nvPr>
        </p:nvSpPr>
        <p:spPr/>
        <p:txBody>
          <a:bodyPr>
            <a:normAutofit/>
          </a:bodyPr>
          <a:lstStyle/>
          <a:p>
            <a:pPr marL="0" indent="0">
              <a:buNone/>
            </a:pPr>
            <a:r>
              <a:rPr lang="en-IN" dirty="0">
                <a:solidFill>
                  <a:schemeClr val="bg1"/>
                </a:solidFill>
                <a:latin typeface="Times New Roman" panose="02020603050405020304" pitchFamily="18" charset="0"/>
                <a:cs typeface="Times New Roman" panose="02020603050405020304" pitchFamily="18" charset="0"/>
              </a:rPr>
              <a:t>Guided by:</a:t>
            </a:r>
          </a:p>
          <a:p>
            <a:pPr marL="0" indent="0">
              <a:buNone/>
            </a:pPr>
            <a:r>
              <a:rPr lang="en-IN" dirty="0">
                <a:solidFill>
                  <a:schemeClr val="bg1"/>
                </a:solidFill>
                <a:latin typeface="Times New Roman" panose="02020603050405020304" pitchFamily="18" charset="0"/>
                <a:cs typeface="Times New Roman" panose="02020603050405020304" pitchFamily="18" charset="0"/>
              </a:rPr>
              <a:t>Prof. Kamlesh Chandravanshi</a:t>
            </a:r>
          </a:p>
        </p:txBody>
      </p:sp>
      <p:sp>
        <p:nvSpPr>
          <p:cNvPr id="4" name="Content Placeholder 3">
            <a:extLst>
              <a:ext uri="{FF2B5EF4-FFF2-40B4-BE49-F238E27FC236}">
                <a16:creationId xmlns:a16="http://schemas.microsoft.com/office/drawing/2014/main" id="{EFC8B0B6-1457-4578-B23D-FA80C0D4D713}"/>
              </a:ext>
            </a:extLst>
          </p:cNvPr>
          <p:cNvSpPr>
            <a:spLocks noGrp="1"/>
          </p:cNvSpPr>
          <p:nvPr>
            <p:ph sz="half" idx="2"/>
          </p:nvPr>
        </p:nvSpPr>
        <p:spPr>
          <a:xfrm>
            <a:off x="6172200" y="2249485"/>
            <a:ext cx="4875211" cy="3888667"/>
          </a:xfrm>
        </p:spPr>
        <p:txBody>
          <a:bodyPr>
            <a:noAutofit/>
          </a:bodyPr>
          <a:lstStyle/>
          <a:p>
            <a:pPr marL="0" indent="0">
              <a:buNone/>
            </a:pPr>
            <a:r>
              <a:rPr lang="en-IN" dirty="0">
                <a:solidFill>
                  <a:schemeClr val="bg1"/>
                </a:solidFill>
                <a:latin typeface="Times New Roman" panose="02020603050405020304" pitchFamily="18" charset="0"/>
                <a:cs typeface="Times New Roman" panose="02020603050405020304" pitchFamily="18" charset="0"/>
              </a:rPr>
              <a:t>Team Members:</a:t>
            </a:r>
          </a:p>
          <a:p>
            <a:pPr marL="0" indent="0" algn="just">
              <a:buNone/>
            </a:pPr>
            <a:r>
              <a:rPr lang="en-IN" dirty="0">
                <a:solidFill>
                  <a:schemeClr val="bg1"/>
                </a:solidFill>
                <a:latin typeface="Times New Roman" panose="02020603050405020304" pitchFamily="18" charset="0"/>
                <a:cs typeface="Times New Roman" panose="02020603050405020304" pitchFamily="18" charset="0"/>
              </a:rPr>
              <a:t>1.  Prajwal Rajput </a:t>
            </a:r>
          </a:p>
          <a:p>
            <a:pPr marL="0" indent="0" algn="just">
              <a:buNone/>
            </a:pPr>
            <a:r>
              <a:rPr lang="en-IN" dirty="0">
                <a:solidFill>
                  <a:schemeClr val="bg1"/>
                </a:solidFill>
                <a:latin typeface="Times New Roman" panose="02020603050405020304" pitchFamily="18" charset="0"/>
                <a:cs typeface="Times New Roman" panose="02020603050405020304" pitchFamily="18" charset="0"/>
              </a:rPr>
              <a:t>     Roll no. 78</a:t>
            </a:r>
          </a:p>
          <a:p>
            <a:pPr marL="0" indent="0" algn="just">
              <a:buNone/>
            </a:pPr>
            <a:r>
              <a:rPr lang="en-IN" dirty="0">
                <a:solidFill>
                  <a:schemeClr val="bg1"/>
                </a:solidFill>
                <a:latin typeface="Times New Roman" panose="02020603050405020304" pitchFamily="18" charset="0"/>
                <a:cs typeface="Times New Roman" panose="02020603050405020304" pitchFamily="18" charset="0"/>
              </a:rPr>
              <a:t>     Enrollment no. 0103IT181079 </a:t>
            </a:r>
          </a:p>
          <a:p>
            <a:pPr marL="0" indent="0" algn="just">
              <a:buNone/>
            </a:pPr>
            <a:r>
              <a:rPr lang="en-IN" dirty="0">
                <a:solidFill>
                  <a:schemeClr val="bg1"/>
                </a:solidFill>
                <a:latin typeface="Times New Roman" panose="02020603050405020304" pitchFamily="18" charset="0"/>
                <a:cs typeface="Times New Roman" panose="02020603050405020304" pitchFamily="18" charset="0"/>
              </a:rPr>
              <a:t>2.   Shruti Verma</a:t>
            </a:r>
          </a:p>
          <a:p>
            <a:pPr marL="0" indent="0" algn="just">
              <a:buNone/>
            </a:pPr>
            <a:r>
              <a:rPr lang="en-IN" dirty="0">
                <a:solidFill>
                  <a:schemeClr val="bg1"/>
                </a:solidFill>
                <a:latin typeface="Times New Roman" panose="02020603050405020304" pitchFamily="18" charset="0"/>
                <a:cs typeface="Times New Roman" panose="02020603050405020304" pitchFamily="18" charset="0"/>
              </a:rPr>
              <a:t>      Roll no. 106</a:t>
            </a:r>
          </a:p>
          <a:p>
            <a:pPr marL="0" indent="0" algn="just">
              <a:buNone/>
            </a:pPr>
            <a:r>
              <a:rPr lang="en-IN" dirty="0">
                <a:solidFill>
                  <a:schemeClr val="bg1"/>
                </a:solidFill>
                <a:latin typeface="Times New Roman" panose="02020603050405020304" pitchFamily="18" charset="0"/>
                <a:cs typeface="Times New Roman" panose="02020603050405020304" pitchFamily="18" charset="0"/>
              </a:rPr>
              <a:t>      Enrollment no. 0103IT181107</a:t>
            </a:r>
          </a:p>
        </p:txBody>
      </p:sp>
    </p:spTree>
    <p:extLst>
      <p:ext uri="{BB962C8B-B14F-4D97-AF65-F5344CB8AC3E}">
        <p14:creationId xmlns:p14="http://schemas.microsoft.com/office/powerpoint/2010/main" val="199032749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E7C7-842B-404A-B160-F3863E51736D}"/>
              </a:ext>
            </a:extLst>
          </p:cNvPr>
          <p:cNvSpPr>
            <a:spLocks noGrp="1"/>
          </p:cNvSpPr>
          <p:nvPr>
            <p:ph type="title"/>
          </p:nvPr>
        </p:nvSpPr>
        <p:spPr>
          <a:xfrm>
            <a:off x="1141413" y="297505"/>
            <a:ext cx="9905998" cy="1478570"/>
          </a:xfrm>
        </p:spPr>
        <p:txBody>
          <a:bodyPr/>
          <a:lstStyle/>
          <a:p>
            <a:r>
              <a:rPr lang="en-IN" cap="none" dirty="0">
                <a:solidFill>
                  <a:schemeClr val="bg1"/>
                </a:solidFill>
                <a:latin typeface="Times New Roman" panose="02020603050405020304" pitchFamily="18" charset="0"/>
                <a:cs typeface="Times New Roman" panose="02020603050405020304" pitchFamily="18" charset="0"/>
              </a:rPr>
              <a:t>Presentation outline:</a:t>
            </a:r>
          </a:p>
        </p:txBody>
      </p:sp>
      <p:sp>
        <p:nvSpPr>
          <p:cNvPr id="3" name="Content Placeholder 2">
            <a:extLst>
              <a:ext uri="{FF2B5EF4-FFF2-40B4-BE49-F238E27FC236}">
                <a16:creationId xmlns:a16="http://schemas.microsoft.com/office/drawing/2014/main" id="{14577A00-6F2C-4EF8-95F7-D5248900F21C}"/>
              </a:ext>
            </a:extLst>
          </p:cNvPr>
          <p:cNvSpPr>
            <a:spLocks noGrp="1"/>
          </p:cNvSpPr>
          <p:nvPr>
            <p:ph idx="1"/>
          </p:nvPr>
        </p:nvSpPr>
        <p:spPr>
          <a:xfrm>
            <a:off x="1141412" y="1414952"/>
            <a:ext cx="9905999" cy="4985848"/>
          </a:xfrm>
        </p:spPr>
        <p:txBody>
          <a:bodyPr>
            <a:noAutofit/>
          </a:bodyPr>
          <a:lstStyle/>
          <a:p>
            <a:pPr marL="457200" indent="-457200">
              <a:buFont typeface="+mj-lt"/>
              <a:buAutoNum type="arabicPeriod"/>
            </a:pPr>
            <a:r>
              <a:rPr lang="en-IN" sz="2000" dirty="0">
                <a:solidFill>
                  <a:schemeClr val="bg1"/>
                </a:solidFill>
                <a:latin typeface="Times New Roman" panose="02020603050405020304" pitchFamily="18" charset="0"/>
                <a:cs typeface="Times New Roman" panose="02020603050405020304" pitchFamily="18" charset="0"/>
              </a:rPr>
              <a:t>Introduction </a:t>
            </a:r>
          </a:p>
          <a:p>
            <a:pPr marL="457200" indent="-457200">
              <a:buFont typeface="+mj-lt"/>
              <a:buAutoNum type="arabicPeriod"/>
            </a:pPr>
            <a:r>
              <a:rPr lang="en-IN" sz="2000" dirty="0">
                <a:solidFill>
                  <a:schemeClr val="bg1"/>
                </a:solidFill>
                <a:latin typeface="Times New Roman" panose="02020603050405020304" pitchFamily="18" charset="0"/>
                <a:cs typeface="Times New Roman" panose="02020603050405020304" pitchFamily="18" charset="0"/>
              </a:rPr>
              <a:t>Objectives </a:t>
            </a:r>
          </a:p>
          <a:p>
            <a:pPr marL="457200" indent="-457200">
              <a:buFont typeface="+mj-lt"/>
              <a:buAutoNum type="arabicPeriod"/>
            </a:pPr>
            <a:r>
              <a:rPr lang="en-IN" sz="2000" dirty="0">
                <a:solidFill>
                  <a:schemeClr val="bg1"/>
                </a:solidFill>
                <a:latin typeface="Times New Roman" panose="02020603050405020304" pitchFamily="18" charset="0"/>
                <a:cs typeface="Times New Roman" panose="02020603050405020304" pitchFamily="18" charset="0"/>
              </a:rPr>
              <a:t>Technology Platform Overview </a:t>
            </a:r>
          </a:p>
          <a:p>
            <a:pPr marL="457200" indent="-457200">
              <a:buFont typeface="+mj-lt"/>
              <a:buAutoNum type="arabicPeriod"/>
            </a:pPr>
            <a:r>
              <a:rPr lang="en-IN" sz="2000" dirty="0">
                <a:solidFill>
                  <a:schemeClr val="bg1"/>
                </a:solidFill>
                <a:latin typeface="Times New Roman" panose="02020603050405020304" pitchFamily="18" charset="0"/>
                <a:cs typeface="Times New Roman" panose="02020603050405020304" pitchFamily="18" charset="0"/>
              </a:rPr>
              <a:t>Requirement Specification</a:t>
            </a:r>
          </a:p>
          <a:p>
            <a:pPr marL="457200" indent="-457200">
              <a:buFont typeface="+mj-lt"/>
              <a:buAutoNum type="arabicPeriod"/>
            </a:pPr>
            <a:r>
              <a:rPr lang="en-IN" sz="2000" dirty="0">
                <a:solidFill>
                  <a:schemeClr val="bg1"/>
                </a:solidFill>
                <a:latin typeface="Times New Roman" panose="02020603050405020304" pitchFamily="18" charset="0"/>
                <a:cs typeface="Times New Roman" panose="02020603050405020304" pitchFamily="18" charset="0"/>
              </a:rPr>
              <a:t>Methodology</a:t>
            </a:r>
          </a:p>
          <a:p>
            <a:pPr marL="457200" indent="-457200">
              <a:buFont typeface="+mj-lt"/>
              <a:buAutoNum type="arabicPeriod"/>
            </a:pPr>
            <a:r>
              <a:rPr lang="en-IN" sz="2000" dirty="0">
                <a:solidFill>
                  <a:schemeClr val="bg1"/>
                </a:solidFill>
                <a:latin typeface="Times New Roman" panose="02020603050405020304" pitchFamily="18" charset="0"/>
                <a:cs typeface="Times New Roman" panose="02020603050405020304" pitchFamily="18" charset="0"/>
              </a:rPr>
              <a:t>Working</a:t>
            </a:r>
          </a:p>
          <a:p>
            <a:pPr marL="457200" indent="-457200">
              <a:buFont typeface="+mj-lt"/>
              <a:buAutoNum type="arabicPeriod"/>
            </a:pPr>
            <a:r>
              <a:rPr lang="en-IN" sz="2000" dirty="0">
                <a:solidFill>
                  <a:schemeClr val="bg1"/>
                </a:solidFill>
                <a:latin typeface="Times New Roman" panose="02020603050405020304" pitchFamily="18" charset="0"/>
                <a:cs typeface="Times New Roman" panose="02020603050405020304" pitchFamily="18" charset="0"/>
              </a:rPr>
              <a:t>Result </a:t>
            </a:r>
          </a:p>
          <a:p>
            <a:pPr marL="457200" indent="-457200">
              <a:buFont typeface="+mj-lt"/>
              <a:buAutoNum type="arabicPeriod"/>
            </a:pPr>
            <a:r>
              <a:rPr lang="en-IN" sz="2000" dirty="0">
                <a:solidFill>
                  <a:schemeClr val="bg1"/>
                </a:solidFill>
                <a:latin typeface="Times New Roman" panose="02020603050405020304" pitchFamily="18" charset="0"/>
                <a:cs typeface="Times New Roman" panose="02020603050405020304" pitchFamily="18" charset="0"/>
              </a:rPr>
              <a:t>Snapshots  </a:t>
            </a:r>
          </a:p>
          <a:p>
            <a:pPr marL="457200" indent="-457200">
              <a:buFont typeface="+mj-lt"/>
              <a:buAutoNum type="arabicPeriod"/>
            </a:pPr>
            <a:r>
              <a:rPr lang="en-IN" sz="2000" dirty="0">
                <a:solidFill>
                  <a:schemeClr val="bg1"/>
                </a:solidFill>
                <a:latin typeface="Times New Roman" panose="02020603050405020304" pitchFamily="18" charset="0"/>
                <a:cs typeface="Times New Roman" panose="02020603050405020304" pitchFamily="18" charset="0"/>
              </a:rPr>
              <a:t>Conclusion </a:t>
            </a:r>
          </a:p>
        </p:txBody>
      </p:sp>
    </p:spTree>
    <p:extLst>
      <p:ext uri="{BB962C8B-B14F-4D97-AF65-F5344CB8AC3E}">
        <p14:creationId xmlns:p14="http://schemas.microsoft.com/office/powerpoint/2010/main" val="3904763455"/>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976BF-7000-442A-A309-AD10F5183B2E}"/>
              </a:ext>
            </a:extLst>
          </p:cNvPr>
          <p:cNvSpPr>
            <a:spLocks noGrp="1"/>
          </p:cNvSpPr>
          <p:nvPr>
            <p:ph type="title"/>
          </p:nvPr>
        </p:nvSpPr>
        <p:spPr>
          <a:xfrm>
            <a:off x="1141413" y="262682"/>
            <a:ext cx="9905998" cy="1478570"/>
          </a:xfrm>
        </p:spPr>
        <p:txBody>
          <a:bodyPr/>
          <a:lstStyle/>
          <a:p>
            <a:r>
              <a:rPr lang="en-IN" dirty="0">
                <a:solidFill>
                  <a:schemeClr val="bg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F9D21962-4251-4B39-8903-021487F6F414}"/>
              </a:ext>
            </a:extLst>
          </p:cNvPr>
          <p:cNvSpPr>
            <a:spLocks noGrp="1"/>
          </p:cNvSpPr>
          <p:nvPr>
            <p:ph idx="1"/>
          </p:nvPr>
        </p:nvSpPr>
        <p:spPr>
          <a:xfrm>
            <a:off x="1141412" y="1404025"/>
            <a:ext cx="9905999" cy="4049950"/>
          </a:xfrm>
        </p:spPr>
        <p:txBody>
          <a:bodyPr>
            <a:noAutofit/>
          </a:bodyPr>
          <a:lstStyle/>
          <a:p>
            <a:pPr marL="0" indent="0" algn="just">
              <a:lnSpc>
                <a:spcPct val="170000"/>
              </a:lnSpc>
              <a:buNone/>
            </a:pPr>
            <a:r>
              <a:rPr lang="en-US" sz="1600" dirty="0">
                <a:solidFill>
                  <a:schemeClr val="bg1"/>
                </a:solidFill>
                <a:latin typeface="Times New Roman" panose="02020603050405020304" pitchFamily="18" charset="0"/>
                <a:cs typeface="Times New Roman" panose="02020603050405020304" pitchFamily="18" charset="0"/>
              </a:rPr>
              <a:t>The technology is growing day by day, with this rise in technology we have not succeeded to take care of our environment in which we live, Thus we have polluted the surrounding. Toxic air cannot be detected as it can be colourless, odourless and tasteless. Hence there is an increasing demand for the environmental pollution control and monitoring systems. In the view of the ever-rising pollution sources with hazardous chemicals, these systems should have the provisions to detect the sources quickly. Hazardous gases are one that causes health problems, but are also used in industries in large quantities.</a:t>
            </a:r>
          </a:p>
          <a:p>
            <a:pPr marL="0" indent="0" algn="just">
              <a:lnSpc>
                <a:spcPct val="170000"/>
              </a:lnSpc>
              <a:buNone/>
            </a:pPr>
            <a:r>
              <a:rPr lang="en-US" sz="1600" dirty="0">
                <a:solidFill>
                  <a:schemeClr val="bg1"/>
                </a:solidFill>
                <a:latin typeface="Times New Roman" panose="02020603050405020304" pitchFamily="18" charset="0"/>
                <a:cs typeface="Times New Roman" panose="02020603050405020304" pitchFamily="18" charset="0"/>
              </a:rPr>
              <a:t>These gases have to be monitored such that rise in the normal level of them could be detected and suitable safety measures can be taken. But the present systems available are not so handy, are expensive and hard to implement. So a IoT based system which is handy and portable designed using NodeMCU Microcontroller with a UI as Blynk Application for the purpose of detection of toxic gas leakage and for alerting which in turn neglects the dangers that have adverse effects on human lives.</a:t>
            </a:r>
            <a:endParaRPr lang="en-I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457084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grpSp>
      <p:sp>
        <p:nvSpPr>
          <p:cNvPr id="2" name="Title 1">
            <a:extLst>
              <a:ext uri="{FF2B5EF4-FFF2-40B4-BE49-F238E27FC236}">
                <a16:creationId xmlns:a16="http://schemas.microsoft.com/office/drawing/2014/main" id="{794CC768-E0FC-4B30-B83E-8244693AFAE7}"/>
              </a:ext>
            </a:extLst>
          </p:cNvPr>
          <p:cNvSpPr>
            <a:spLocks noGrp="1"/>
          </p:cNvSpPr>
          <p:nvPr>
            <p:ph type="title"/>
          </p:nvPr>
        </p:nvSpPr>
        <p:spPr>
          <a:xfrm>
            <a:off x="775971" y="626745"/>
            <a:ext cx="3059969" cy="2797493"/>
          </a:xfrm>
        </p:spPr>
        <p:txBody>
          <a:bodyPr>
            <a:normAutofit/>
          </a:bodyPr>
          <a:lstStyle/>
          <a:p>
            <a:pPr algn="just">
              <a:lnSpc>
                <a:spcPct val="100000"/>
              </a:lnSpc>
            </a:pPr>
            <a:r>
              <a:rPr lang="en-IN">
                <a:latin typeface="Times New Roman" panose="02020603050405020304" pitchFamily="18" charset="0"/>
                <a:cs typeface="Times New Roman" panose="02020603050405020304" pitchFamily="18" charset="0"/>
              </a:rPr>
              <a:t>Recent industrial Accident</a:t>
            </a:r>
            <a:endParaRPr lang="en-IN" dirty="0">
              <a:latin typeface="Times New Roman" panose="02020603050405020304" pitchFamily="18" charset="0"/>
              <a:cs typeface="Times New Roman" panose="02020603050405020304" pitchFamily="18" charset="0"/>
            </a:endParaRP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Content Placeholder 5" descr="A train on a track with smoke coming out of it&#10;&#10;Description automatically generated">
            <a:extLst>
              <a:ext uri="{FF2B5EF4-FFF2-40B4-BE49-F238E27FC236}">
                <a16:creationId xmlns:a16="http://schemas.microsoft.com/office/drawing/2014/main" id="{1B93FF64-3285-4991-B08C-1E369AC5D998}"/>
              </a:ext>
            </a:extLst>
          </p:cNvPr>
          <p:cNvPicPr>
            <a:picLocks noGrp="1" noChangeAspect="1"/>
          </p:cNvPicPr>
          <p:nvPr>
            <p:ph idx="1"/>
          </p:nvPr>
        </p:nvPicPr>
        <p:blipFill>
          <a:blip r:embed="rId2"/>
          <a:stretch>
            <a:fillRect/>
          </a:stretch>
        </p:blipFill>
        <p:spPr>
          <a:xfrm>
            <a:off x="5532243" y="456406"/>
            <a:ext cx="5781675" cy="3857625"/>
          </a:xfrm>
        </p:spPr>
      </p:pic>
      <p:sp>
        <p:nvSpPr>
          <p:cNvPr id="38" name="TextBox 37">
            <a:extLst>
              <a:ext uri="{FF2B5EF4-FFF2-40B4-BE49-F238E27FC236}">
                <a16:creationId xmlns:a16="http://schemas.microsoft.com/office/drawing/2014/main" id="{B6DB0AFE-3C66-4BD4-B442-0EA00E22FB4F}"/>
              </a:ext>
            </a:extLst>
          </p:cNvPr>
          <p:cNvSpPr txBox="1"/>
          <p:nvPr/>
        </p:nvSpPr>
        <p:spPr>
          <a:xfrm>
            <a:off x="1959544" y="3506972"/>
            <a:ext cx="2560765" cy="873572"/>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At </a:t>
            </a:r>
            <a:r>
              <a:rPr lang="en-IN" b="0" i="0" dirty="0">
                <a:effectLst/>
                <a:latin typeface="Times New Roman" panose="02020603050405020304" pitchFamily="18" charset="0"/>
                <a:cs typeface="Times New Roman" panose="02020603050405020304" pitchFamily="18" charset="0"/>
              </a:rPr>
              <a:t>Vishakhapatnam(A.P)</a:t>
            </a:r>
          </a:p>
          <a:p>
            <a:pPr algn="just">
              <a:lnSpc>
                <a:spcPct val="150000"/>
              </a:lnSpc>
            </a:pPr>
            <a:r>
              <a:rPr lang="en-IN" dirty="0">
                <a:latin typeface="Times New Roman" panose="02020603050405020304" pitchFamily="18" charset="0"/>
                <a:cs typeface="Times New Roman" panose="02020603050405020304" pitchFamily="18" charset="0"/>
              </a:rPr>
              <a:t>on </a:t>
            </a:r>
            <a:r>
              <a:rPr lang="en-IN" b="0" i="0" dirty="0">
                <a:effectLst/>
                <a:latin typeface="Times New Roman" panose="02020603050405020304" pitchFamily="18" charset="0"/>
                <a:cs typeface="Times New Roman" panose="02020603050405020304" pitchFamily="18" charset="0"/>
              </a:rPr>
              <a:t>7 May 2020</a:t>
            </a:r>
            <a:endParaRPr lang="en-IN" dirty="0">
              <a:latin typeface="Times New Roman" panose="02020603050405020304" pitchFamily="18" charset="0"/>
              <a:cs typeface="Times New Roman" panose="02020603050405020304" pitchFamily="18" charset="0"/>
            </a:endParaRPr>
          </a:p>
        </p:txBody>
      </p:sp>
      <p:sp>
        <p:nvSpPr>
          <p:cNvPr id="131" name="TextBox 130">
            <a:extLst>
              <a:ext uri="{FF2B5EF4-FFF2-40B4-BE49-F238E27FC236}">
                <a16:creationId xmlns:a16="http://schemas.microsoft.com/office/drawing/2014/main" id="{C29712D9-3362-4D19-8751-54F9661F1E3E}"/>
              </a:ext>
            </a:extLst>
          </p:cNvPr>
          <p:cNvSpPr txBox="1"/>
          <p:nvPr/>
        </p:nvSpPr>
        <p:spPr>
          <a:xfrm>
            <a:off x="4867970" y="4545736"/>
            <a:ext cx="6883043" cy="1754326"/>
          </a:xfrm>
          <a:prstGeom prst="rect">
            <a:avLst/>
          </a:prstGeom>
          <a:noFill/>
        </p:spPr>
        <p:txBody>
          <a:bodyPr wrap="square">
            <a:spAutoFit/>
          </a:bodyPr>
          <a:lstStyle/>
          <a:p>
            <a:pPr algn="just" fontAlgn="base"/>
            <a:r>
              <a:rPr lang="en-US" dirty="0">
                <a:solidFill>
                  <a:srgbClr val="000000"/>
                </a:solidFill>
                <a:latin typeface="Times New Roman" panose="02020603050405020304" pitchFamily="18" charset="0"/>
                <a:cs typeface="Times New Roman" panose="02020603050405020304" pitchFamily="18" charset="0"/>
              </a:rPr>
              <a:t>Pic.1 : </a:t>
            </a:r>
            <a:r>
              <a:rPr lang="en-US" b="0" i="0" dirty="0">
                <a:solidFill>
                  <a:srgbClr val="000000"/>
                </a:solidFill>
                <a:effectLst/>
                <a:latin typeface="Times New Roman" panose="02020603050405020304" pitchFamily="18" charset="0"/>
                <a:cs typeface="Times New Roman" panose="02020603050405020304" pitchFamily="18" charset="0"/>
              </a:rPr>
              <a:t>Smoke is seen at LG Polymers plant in Visakhapatnam. People in the Gopalapatnam area, where the chemical plant is located, complained of irritation in eyes, breathlessness, nausea, and rashes on their bodies. As many as 25 people are critical and close to 1000 people have been evacuated.</a:t>
            </a:r>
            <a:br>
              <a:rPr lang="en-US" b="0" i="0" dirty="0">
                <a:solidFill>
                  <a:srgbClr val="000000"/>
                </a:solidFill>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5803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86" name="Rectangle 11">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87"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88" name="Content Placeholder 8">
            <a:extLst>
              <a:ext uri="{FF2B5EF4-FFF2-40B4-BE49-F238E27FC236}">
                <a16:creationId xmlns:a16="http://schemas.microsoft.com/office/drawing/2014/main" id="{99CEB29D-56C0-424A-B4AC-4F23C69BA481}"/>
              </a:ext>
            </a:extLst>
          </p:cNvPr>
          <p:cNvSpPr>
            <a:spLocks noGrp="1"/>
          </p:cNvSpPr>
          <p:nvPr>
            <p:ph idx="1"/>
          </p:nvPr>
        </p:nvSpPr>
        <p:spPr>
          <a:xfrm>
            <a:off x="1116012" y="1611313"/>
            <a:ext cx="4459287" cy="3965046"/>
          </a:xfrm>
        </p:spPr>
        <p:txBody>
          <a:bodyPr>
            <a:normAutofit/>
          </a:bodyPr>
          <a:lstStyle/>
          <a:p>
            <a:pPr marL="0" indent="0" algn="just">
              <a:buNone/>
            </a:pPr>
            <a:r>
              <a:rPr lang="en-US" sz="2000" dirty="0">
                <a:solidFill>
                  <a:srgbClr val="000000"/>
                </a:solidFill>
                <a:latin typeface="Times New Roman" panose="02020603050405020304" pitchFamily="18" charset="0"/>
                <a:cs typeface="Times New Roman" panose="02020603050405020304" pitchFamily="18" charset="0"/>
              </a:rPr>
              <a:t>Pic. 2 :This </a:t>
            </a:r>
            <a:r>
              <a:rPr lang="en-US" sz="2000" b="0" i="0" dirty="0">
                <a:solidFill>
                  <a:srgbClr val="000000"/>
                </a:solidFill>
                <a:effectLst/>
                <a:latin typeface="Times New Roman" panose="02020603050405020304" pitchFamily="18" charset="0"/>
                <a:cs typeface="Times New Roman" panose="02020603050405020304" pitchFamily="18" charset="0"/>
              </a:rPr>
              <a:t>incident evoked memories of Bhopal gas tragedy in 1984 when a gas leak at a factory of US chemical firm Union Carbide killed thousands. In this picture, dead cattle affected by a gas leak at the LG Polymers Plant is seen in Visakhapatnam.</a:t>
            </a:r>
            <a:endParaRPr lang="en-US" sz="2000" dirty="0">
              <a:latin typeface="Times New Roman" panose="02020603050405020304" pitchFamily="18" charset="0"/>
              <a:cs typeface="Times New Roman" panose="02020603050405020304" pitchFamily="18" charset="0"/>
            </a:endParaRPr>
          </a:p>
        </p:txBody>
      </p:sp>
      <p:pic>
        <p:nvPicPr>
          <p:cNvPr id="5" name="Content Placeholder 4" descr="A picture containing outdoor, mammal, grass, dog&#10;&#10;Description automatically generated">
            <a:extLst>
              <a:ext uri="{FF2B5EF4-FFF2-40B4-BE49-F238E27FC236}">
                <a16:creationId xmlns:a16="http://schemas.microsoft.com/office/drawing/2014/main" id="{FA44F18C-A8CB-43F2-BB75-7D3C095AE636}"/>
              </a:ext>
            </a:extLst>
          </p:cNvPr>
          <p:cNvPicPr>
            <a:picLocks noChangeAspect="1"/>
          </p:cNvPicPr>
          <p:nvPr/>
        </p:nvPicPr>
        <p:blipFill>
          <a:blip r:embed="rId4"/>
          <a:stretch>
            <a:fillRect/>
          </a:stretch>
        </p:blipFill>
        <p:spPr>
          <a:xfrm>
            <a:off x="6096000" y="1547750"/>
            <a:ext cx="5456279" cy="3737551"/>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89" name="Group 15">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7"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90"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19"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91"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1"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2"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3"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4"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5"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6"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7"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28"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29"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0"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1"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2"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3"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sp>
        <p:sp>
          <p:nvSpPr>
            <p:cNvPr id="34"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5"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6"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7"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8"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39"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0"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1"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2"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sp>
          <p:nvSpPr>
            <p:cNvPr id="43"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p>
      </p:grpSp>
    </p:spTree>
    <p:extLst>
      <p:ext uri="{BB962C8B-B14F-4D97-AF65-F5344CB8AC3E}">
        <p14:creationId xmlns:p14="http://schemas.microsoft.com/office/powerpoint/2010/main" val="42511100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5" name="Content Placeholder 4" descr="A group of people in a room&#10;&#10;Description automatically generated">
            <a:extLst>
              <a:ext uri="{FF2B5EF4-FFF2-40B4-BE49-F238E27FC236}">
                <a16:creationId xmlns:a16="http://schemas.microsoft.com/office/drawing/2014/main" id="{E0529926-7DB1-4117-8119-018BB55B0768}"/>
              </a:ext>
            </a:extLst>
          </p:cNvPr>
          <p:cNvPicPr>
            <a:picLocks noChangeAspect="1"/>
          </p:cNvPicPr>
          <p:nvPr/>
        </p:nvPicPr>
        <p:blipFill rotWithShape="1">
          <a:blip r:embed="rId3"/>
          <a:srcRect t="2425" r="-3" b="-3"/>
          <a:stretch/>
        </p:blipFill>
        <p:spPr>
          <a:xfrm>
            <a:off x="689055" y="1809345"/>
            <a:ext cx="5298467" cy="3463893"/>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7" name="TextBox 6">
            <a:extLst>
              <a:ext uri="{FF2B5EF4-FFF2-40B4-BE49-F238E27FC236}">
                <a16:creationId xmlns:a16="http://schemas.microsoft.com/office/drawing/2014/main" id="{50184320-DEAD-48DB-AFCF-ED22CA5B2D55}"/>
              </a:ext>
            </a:extLst>
          </p:cNvPr>
          <p:cNvSpPr txBox="1"/>
          <p:nvPr/>
        </p:nvSpPr>
        <p:spPr>
          <a:xfrm>
            <a:off x="6415379" y="1794674"/>
            <a:ext cx="4844374" cy="3268652"/>
          </a:xfrm>
          <a:prstGeom prst="rect">
            <a:avLst/>
          </a:prstGeom>
          <a:noFill/>
        </p:spPr>
        <p:txBody>
          <a:bodyPr wrap="square" rtlCol="0">
            <a:spAutoFit/>
          </a:bodyPr>
          <a:lstStyle/>
          <a:p>
            <a:pPr algn="just">
              <a:lnSpc>
                <a:spcPct val="150000"/>
              </a:lnSpc>
            </a:pPr>
            <a:r>
              <a:rPr lang="en-IN" sz="2000" dirty="0">
                <a:solidFill>
                  <a:schemeClr val="bg1"/>
                </a:solidFill>
                <a:latin typeface="Times New Roman" panose="02020603050405020304" pitchFamily="18" charset="0"/>
                <a:cs typeface="Times New Roman" panose="02020603050405020304" pitchFamily="18" charset="0"/>
              </a:rPr>
              <a:t>Pic. 3: </a:t>
            </a:r>
            <a:r>
              <a:rPr lang="en-US" sz="2000" b="0" i="0" dirty="0">
                <a:solidFill>
                  <a:schemeClr val="bg1"/>
                </a:solidFill>
                <a:effectLst/>
                <a:latin typeface="Times New Roman" panose="02020603050405020304" pitchFamily="18" charset="0"/>
                <a:cs typeface="Times New Roman" panose="02020603050405020304" pitchFamily="18" charset="0"/>
              </a:rPr>
              <a:t>People affected by the gas leak at the LG Polymers Plant are transported in a ambulance in Visakhapatnam. The leak is suspected to have been from large tanks left unattended because of the nationwide lockdown to fight COVID-19, (as per news reports).</a:t>
            </a:r>
            <a:endParaRPr lang="en-IN"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18370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3DC9C-6B02-4C11-AB93-9AA22AA9A79D}"/>
              </a:ext>
            </a:extLst>
          </p:cNvPr>
          <p:cNvSpPr>
            <a:spLocks noGrp="1"/>
          </p:cNvSpPr>
          <p:nvPr>
            <p:ph type="title"/>
          </p:nvPr>
        </p:nvSpPr>
        <p:spPr/>
        <p:txBody>
          <a:bodyPr/>
          <a:lstStyle/>
          <a:p>
            <a:r>
              <a:rPr lang="en-IN" cap="none" dirty="0">
                <a:solidFill>
                  <a:schemeClr val="bg1"/>
                </a:solidFill>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004D10D2-3042-42D6-AE11-E0F760175EB0}"/>
              </a:ext>
            </a:extLst>
          </p:cNvPr>
          <p:cNvSpPr>
            <a:spLocks noGrp="1"/>
          </p:cNvSpPr>
          <p:nvPr>
            <p:ph idx="1"/>
          </p:nvPr>
        </p:nvSpPr>
        <p:spPr>
          <a:xfrm>
            <a:off x="1141412" y="2256817"/>
            <a:ext cx="10152401" cy="3589506"/>
          </a:xfrm>
        </p:spPr>
        <p:txBody>
          <a:bodyPr>
            <a:normAutofit/>
          </a:bodyPr>
          <a:lstStyle/>
          <a:p>
            <a:pPr marL="0" indent="0" algn="just">
              <a:buNone/>
            </a:pPr>
            <a:r>
              <a:rPr lang="en-IN" dirty="0">
                <a:solidFill>
                  <a:schemeClr val="bg1"/>
                </a:solidFill>
                <a:latin typeface="Times New Roman" panose="02020603050405020304" pitchFamily="18" charset="0"/>
                <a:cs typeface="Times New Roman" panose="02020603050405020304" pitchFamily="18" charset="0"/>
              </a:rPr>
              <a:t>Safety place a major role in today’s world and it is necessary that good safety systems are to be implemented in places of education and work. This work modifies the existing safety model installed in industries and this system also be used in homes and offices. The main objective of the work is designing handy and portable toxic gas monitoring system, which shows live gas level and alerting message if gas leakage detects. The hazardous gases like LPG,</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methane and carbon monoxide </a:t>
            </a:r>
            <a:r>
              <a:rPr lang="en-IN" dirty="0">
                <a:solidFill>
                  <a:schemeClr val="bg1"/>
                </a:solidFill>
                <a:latin typeface="Times New Roman" panose="02020603050405020304" pitchFamily="18" charset="0"/>
                <a:cs typeface="Times New Roman" panose="02020603050405020304" pitchFamily="18" charset="0"/>
              </a:rPr>
              <a:t>should be sensed and displayed each and every second on Blynk server.</a:t>
            </a:r>
          </a:p>
        </p:txBody>
      </p:sp>
    </p:spTree>
    <p:extLst>
      <p:ext uri="{BB962C8B-B14F-4D97-AF65-F5344CB8AC3E}">
        <p14:creationId xmlns:p14="http://schemas.microsoft.com/office/powerpoint/2010/main" val="4039293906"/>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FFC59-738B-4761-B40B-716081768394}"/>
              </a:ext>
            </a:extLst>
          </p:cNvPr>
          <p:cNvSpPr>
            <a:spLocks noGrp="1"/>
          </p:cNvSpPr>
          <p:nvPr>
            <p:ph type="title"/>
          </p:nvPr>
        </p:nvSpPr>
        <p:spPr/>
        <p:txBody>
          <a:bodyPr/>
          <a:lstStyle/>
          <a:p>
            <a:r>
              <a:rPr lang="en-IN" dirty="0">
                <a:solidFill>
                  <a:schemeClr val="bg1"/>
                </a:solidFill>
                <a:latin typeface="Times New Roman" panose="02020603050405020304" pitchFamily="18" charset="0"/>
                <a:cs typeface="Times New Roman" panose="02020603050405020304" pitchFamily="18" charset="0"/>
              </a:rPr>
              <a:t>Technology platform</a:t>
            </a:r>
          </a:p>
        </p:txBody>
      </p:sp>
      <p:sp>
        <p:nvSpPr>
          <p:cNvPr id="3" name="Content Placeholder 2">
            <a:extLst>
              <a:ext uri="{FF2B5EF4-FFF2-40B4-BE49-F238E27FC236}">
                <a16:creationId xmlns:a16="http://schemas.microsoft.com/office/drawing/2014/main" id="{E110969F-40D9-47B2-A91F-B6001FAF1CF3}"/>
              </a:ext>
            </a:extLst>
          </p:cNvPr>
          <p:cNvSpPr>
            <a:spLocks noGrp="1"/>
          </p:cNvSpPr>
          <p:nvPr>
            <p:ph idx="1"/>
          </p:nvPr>
        </p:nvSpPr>
        <p:spPr>
          <a:xfrm>
            <a:off x="1141413" y="2208179"/>
            <a:ext cx="9905999" cy="3923490"/>
          </a:xfrm>
        </p:spPr>
        <p:txBody>
          <a:bodyPr>
            <a:normAutofit/>
          </a:bodyPr>
          <a:lstStyle/>
          <a:p>
            <a:pPr algn="just"/>
            <a:r>
              <a:rPr lang="en-IN" dirty="0">
                <a:solidFill>
                  <a:schemeClr val="bg1"/>
                </a:solidFill>
                <a:latin typeface="Times New Roman" panose="02020603050405020304" pitchFamily="18" charset="0"/>
                <a:cs typeface="Times New Roman" panose="02020603050405020304" pitchFamily="18" charset="0"/>
              </a:rPr>
              <a:t>Internet of Things (IoT):  The Internet of Things(IoT) refers to a system of interrelated, internet – connected objects that are able to collect and transfer data over a wireless network without human intervention .</a:t>
            </a:r>
          </a:p>
          <a:p>
            <a:pPr algn="just"/>
            <a:r>
              <a:rPr lang="en-IN" dirty="0">
                <a:solidFill>
                  <a:schemeClr val="bg1"/>
                </a:solidFill>
                <a:latin typeface="Times New Roman" panose="02020603050405020304" pitchFamily="18" charset="0"/>
                <a:cs typeface="Times New Roman" panose="02020603050405020304" pitchFamily="18" charset="0"/>
              </a:rPr>
              <a:t>Back End : C/C++ for Arduino IDE</a:t>
            </a:r>
          </a:p>
          <a:p>
            <a:pPr algn="just"/>
            <a:r>
              <a:rPr lang="en-IN" dirty="0">
                <a:solidFill>
                  <a:schemeClr val="bg1"/>
                </a:solidFill>
                <a:latin typeface="Times New Roman" panose="02020603050405020304" pitchFamily="18" charset="0"/>
                <a:cs typeface="Times New Roman" panose="02020603050405020304" pitchFamily="18" charset="0"/>
              </a:rPr>
              <a:t>User Interface : Blynk Application</a:t>
            </a:r>
          </a:p>
          <a:p>
            <a:pPr algn="just"/>
            <a:r>
              <a:rPr lang="en-IN" dirty="0">
                <a:solidFill>
                  <a:schemeClr val="bg1"/>
                </a:solidFill>
                <a:latin typeface="Times New Roman" panose="02020603050405020304" pitchFamily="18" charset="0"/>
                <a:cs typeface="Times New Roman" panose="02020603050405020304" pitchFamily="18" charset="0"/>
              </a:rPr>
              <a:t>Communication Medium : Wi-Fi</a:t>
            </a:r>
          </a:p>
          <a:p>
            <a:pPr marL="0" indent="0" algn="just">
              <a:buNone/>
            </a:pPr>
            <a:endParaRPr lang="en-IN" dirty="0">
              <a:solidFill>
                <a:schemeClr val="bg1"/>
              </a:solidFill>
              <a:latin typeface="Times New Roman" panose="02020603050405020304" pitchFamily="18" charset="0"/>
              <a:cs typeface="Times New Roman" panose="02020603050405020304" pitchFamily="18" charset="0"/>
            </a:endParaRPr>
          </a:p>
          <a:p>
            <a:pPr marL="0" indent="0" algn="just">
              <a:buNone/>
            </a:pP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447294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AF486-1224-4D59-95B4-982D5D67E249}"/>
              </a:ext>
            </a:extLst>
          </p:cNvPr>
          <p:cNvSpPr>
            <a:spLocks noGrp="1"/>
          </p:cNvSpPr>
          <p:nvPr>
            <p:ph type="title"/>
          </p:nvPr>
        </p:nvSpPr>
        <p:spPr/>
        <p:txBody>
          <a:bodyPr/>
          <a:lstStyle/>
          <a:p>
            <a:r>
              <a:rPr lang="en-IN" dirty="0">
                <a:solidFill>
                  <a:schemeClr val="bg1"/>
                </a:solidFill>
                <a:latin typeface="Times New Roman" panose="02020603050405020304" pitchFamily="18" charset="0"/>
                <a:cs typeface="Times New Roman" panose="02020603050405020304" pitchFamily="18" charset="0"/>
              </a:rPr>
              <a:t>Requirement SPECIFICATION</a:t>
            </a:r>
          </a:p>
        </p:txBody>
      </p:sp>
      <p:sp>
        <p:nvSpPr>
          <p:cNvPr id="3" name="Content Placeholder 2">
            <a:extLst>
              <a:ext uri="{FF2B5EF4-FFF2-40B4-BE49-F238E27FC236}">
                <a16:creationId xmlns:a16="http://schemas.microsoft.com/office/drawing/2014/main" id="{59AE63DB-13B5-4956-81EA-FD949DBC3829}"/>
              </a:ext>
            </a:extLst>
          </p:cNvPr>
          <p:cNvSpPr>
            <a:spLocks noGrp="1"/>
          </p:cNvSpPr>
          <p:nvPr>
            <p:ph sz="half" idx="1"/>
          </p:nvPr>
        </p:nvSpPr>
        <p:spPr>
          <a:xfrm>
            <a:off x="1141410" y="1877438"/>
            <a:ext cx="4878389" cy="4056434"/>
          </a:xfrm>
        </p:spPr>
        <p:txBody>
          <a:bodyPr>
            <a:normAutofit fontScale="92500" lnSpcReduction="20000"/>
          </a:bodyPr>
          <a:lstStyle/>
          <a:p>
            <a:pPr marL="0" indent="0">
              <a:buNone/>
            </a:pPr>
            <a:r>
              <a:rPr lang="en-IN" dirty="0">
                <a:solidFill>
                  <a:schemeClr val="bg1"/>
                </a:solidFill>
                <a:latin typeface="Times New Roman" panose="02020603050405020304" pitchFamily="18" charset="0"/>
                <a:cs typeface="Times New Roman" panose="02020603050405020304" pitchFamily="18" charset="0"/>
              </a:rPr>
              <a:t>HARDWARE</a:t>
            </a:r>
          </a:p>
          <a:p>
            <a:pPr marL="342900" lvl="0" indent="-342900" algn="just">
              <a:lnSpc>
                <a:spcPct val="150000"/>
              </a:lnSpc>
              <a:buFont typeface="Symbol" panose="05050102010706020507" pitchFamily="18" charset="2"/>
              <a:buChar char=""/>
            </a:pPr>
            <a:r>
              <a:rPr lang="en-IN" sz="1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NodeMCU</a:t>
            </a:r>
            <a:endParaRPr lang="en-IN"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MQ2 Sensor</a:t>
            </a:r>
            <a:endParaRPr lang="en-IN"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Buzzer</a:t>
            </a:r>
            <a:endParaRPr lang="en-IN"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LED Green/Red</a:t>
            </a:r>
            <a:endParaRPr lang="en-IN"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Resistor 220 ohm</a:t>
            </a:r>
            <a:endParaRPr lang="en-IN"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Breadboard</a:t>
            </a:r>
            <a:endParaRPr lang="en-IN"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Jumper Wires</a:t>
            </a:r>
            <a:endParaRPr lang="en-IN" sz="19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solidFill>
                <a:schemeClr val="bg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AD97177-504E-4488-AC15-89361E81100A}"/>
              </a:ext>
            </a:extLst>
          </p:cNvPr>
          <p:cNvSpPr>
            <a:spLocks noGrp="1"/>
          </p:cNvSpPr>
          <p:nvPr>
            <p:ph sz="half" idx="2"/>
          </p:nvPr>
        </p:nvSpPr>
        <p:spPr>
          <a:xfrm>
            <a:off x="6172200" y="1877438"/>
            <a:ext cx="4875211" cy="3913762"/>
          </a:xfrm>
        </p:spPr>
        <p:txBody>
          <a:bodyPr>
            <a:normAutofit fontScale="92500" lnSpcReduction="20000"/>
          </a:bodyPr>
          <a:lstStyle/>
          <a:p>
            <a:pPr marL="0" indent="0">
              <a:buNone/>
            </a:pPr>
            <a:r>
              <a:rPr lang="en-IN" dirty="0">
                <a:solidFill>
                  <a:schemeClr val="bg1"/>
                </a:solidFill>
                <a:latin typeface="Times New Roman" panose="02020603050405020304" pitchFamily="18" charset="0"/>
                <a:cs typeface="Times New Roman" panose="02020603050405020304" pitchFamily="18" charset="0"/>
              </a:rPr>
              <a:t>SOFTWARE</a:t>
            </a:r>
          </a:p>
          <a:p>
            <a:pPr marL="342900" lvl="0" indent="-342900" algn="just">
              <a:lnSpc>
                <a:spcPct val="150000"/>
              </a:lnSpc>
              <a:buFont typeface="Symbol" panose="05050102010706020507" pitchFamily="18" charset="2"/>
              <a:buChar char=""/>
            </a:pPr>
            <a:r>
              <a:rPr lang="en-IN" sz="2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Arduino IDE</a:t>
            </a:r>
            <a:endParaRPr lang="en-IN" sz="2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Blynk Application</a:t>
            </a:r>
            <a:endParaRPr lang="en-IN" sz="2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569109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5BAE-D5CD-42C5-97BB-6E77D2D07BFF}"/>
              </a:ext>
            </a:extLst>
          </p:cNvPr>
          <p:cNvSpPr>
            <a:spLocks noGrp="1"/>
          </p:cNvSpPr>
          <p:nvPr>
            <p:ph type="title"/>
          </p:nvPr>
        </p:nvSpPr>
        <p:spPr>
          <a:xfrm>
            <a:off x="1143001" y="365598"/>
            <a:ext cx="9905998" cy="1478570"/>
          </a:xfrm>
        </p:spPr>
        <p:txBody>
          <a:bodyPr/>
          <a:lstStyle/>
          <a:p>
            <a:r>
              <a:rPr lang="en-IN" dirty="0" err="1">
                <a:solidFill>
                  <a:schemeClr val="bg1"/>
                </a:solidFill>
                <a:latin typeface="Times New Roman" panose="02020603050405020304" pitchFamily="18" charset="0"/>
                <a:cs typeface="Times New Roman" panose="02020603050405020304" pitchFamily="18" charset="0"/>
              </a:rPr>
              <a:t>Nodemcu</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D62878B-6410-4A81-831C-25DF9F3BC6F3}"/>
              </a:ext>
            </a:extLst>
          </p:cNvPr>
          <p:cNvPicPr>
            <a:picLocks noGrp="1" noChangeAspect="1"/>
          </p:cNvPicPr>
          <p:nvPr>
            <p:ph idx="1"/>
          </p:nvPr>
        </p:nvPicPr>
        <p:blipFill>
          <a:blip r:embed="rId2"/>
          <a:stretch>
            <a:fillRect/>
          </a:stretch>
        </p:blipFill>
        <p:spPr>
          <a:xfrm>
            <a:off x="7383293" y="883910"/>
            <a:ext cx="3774332" cy="2426356"/>
          </a:xfrm>
        </p:spPr>
      </p:pic>
      <p:sp>
        <p:nvSpPr>
          <p:cNvPr id="8" name="TextBox 7">
            <a:extLst>
              <a:ext uri="{FF2B5EF4-FFF2-40B4-BE49-F238E27FC236}">
                <a16:creationId xmlns:a16="http://schemas.microsoft.com/office/drawing/2014/main" id="{163253F0-A621-4056-842D-054BE3E3B7C1}"/>
              </a:ext>
            </a:extLst>
          </p:cNvPr>
          <p:cNvSpPr txBox="1"/>
          <p:nvPr/>
        </p:nvSpPr>
        <p:spPr>
          <a:xfrm>
            <a:off x="8534672" y="3310266"/>
            <a:ext cx="1895071" cy="338554"/>
          </a:xfrm>
          <a:prstGeom prst="rect">
            <a:avLst/>
          </a:prstGeom>
          <a:noFill/>
        </p:spPr>
        <p:txBody>
          <a:bodyPr wrap="none" rtlCol="0">
            <a:spAutoFit/>
          </a:bodyPr>
          <a:lstStyle/>
          <a:p>
            <a:r>
              <a:rPr lang="en-IN" sz="1600" dirty="0">
                <a:solidFill>
                  <a:schemeClr val="bg1"/>
                </a:solidFill>
                <a:latin typeface="Times New Roman" panose="02020603050405020304" pitchFamily="18" charset="0"/>
                <a:cs typeface="Times New Roman" panose="02020603050405020304" pitchFamily="18" charset="0"/>
              </a:rPr>
              <a:t>Figure 1: NodeMCU</a:t>
            </a:r>
          </a:p>
        </p:txBody>
      </p:sp>
      <p:sp>
        <p:nvSpPr>
          <p:cNvPr id="9" name="TextBox 8">
            <a:extLst>
              <a:ext uri="{FF2B5EF4-FFF2-40B4-BE49-F238E27FC236}">
                <a16:creationId xmlns:a16="http://schemas.microsoft.com/office/drawing/2014/main" id="{F8543572-7D87-4AAB-8931-B1302ECD7BF4}"/>
              </a:ext>
            </a:extLst>
          </p:cNvPr>
          <p:cNvSpPr txBox="1"/>
          <p:nvPr/>
        </p:nvSpPr>
        <p:spPr>
          <a:xfrm>
            <a:off x="2928026" y="3648820"/>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43870E6-349F-4C0D-A480-EE01FCE9D281}"/>
              </a:ext>
            </a:extLst>
          </p:cNvPr>
          <p:cNvSpPr txBox="1"/>
          <p:nvPr/>
        </p:nvSpPr>
        <p:spPr>
          <a:xfrm>
            <a:off x="1237469" y="2097088"/>
            <a:ext cx="5299518" cy="2446824"/>
          </a:xfrm>
          <a:prstGeom prst="rect">
            <a:avLst/>
          </a:prstGeom>
          <a:noFill/>
        </p:spPr>
        <p:txBody>
          <a:bodyPr wrap="square" rtlCol="0">
            <a:spAutoFit/>
          </a:bodyPr>
          <a:lstStyle/>
          <a:p>
            <a:pPr algn="just">
              <a:lnSpc>
                <a:spcPct val="150000"/>
              </a:lnSpc>
            </a:pPr>
            <a:r>
              <a:rPr lang="en-IN"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NodeMCU is a low-cost open source IOT platform. It initially included firmware which runs on ESP8266 Wi-Fi System-on-a-chip (SOC). The ESP8266 can be programmed using the Arduino IDE programming environment.</a:t>
            </a:r>
          </a:p>
          <a:p>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622138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D7A81-52EF-4A91-A8A5-3E7482A0403F}"/>
              </a:ext>
            </a:extLst>
          </p:cNvPr>
          <p:cNvSpPr>
            <a:spLocks noGrp="1"/>
          </p:cNvSpPr>
          <p:nvPr>
            <p:ph type="title"/>
          </p:nvPr>
        </p:nvSpPr>
        <p:spPr/>
        <p:txBody>
          <a:bodyPr>
            <a:normAutofit/>
          </a:bodyPr>
          <a:lstStyle/>
          <a:p>
            <a:r>
              <a:rPr lang="en-IN" sz="3200" dirty="0">
                <a:solidFill>
                  <a:schemeClr val="bg1"/>
                </a:solidFill>
                <a:latin typeface="Times New Roman" panose="02020603050405020304" pitchFamily="18" charset="0"/>
                <a:cs typeface="Times New Roman" panose="02020603050405020304" pitchFamily="18" charset="0"/>
              </a:rPr>
              <a:t>Mq2 Sensor</a:t>
            </a:r>
          </a:p>
        </p:txBody>
      </p:sp>
      <p:sp>
        <p:nvSpPr>
          <p:cNvPr id="3" name="Content Placeholder 2">
            <a:extLst>
              <a:ext uri="{FF2B5EF4-FFF2-40B4-BE49-F238E27FC236}">
                <a16:creationId xmlns:a16="http://schemas.microsoft.com/office/drawing/2014/main" id="{3A370A22-22A1-4487-B060-E112238040B1}"/>
              </a:ext>
            </a:extLst>
          </p:cNvPr>
          <p:cNvSpPr>
            <a:spLocks noGrp="1"/>
          </p:cNvSpPr>
          <p:nvPr>
            <p:ph idx="1"/>
          </p:nvPr>
        </p:nvSpPr>
        <p:spPr>
          <a:xfrm>
            <a:off x="1141412" y="2097088"/>
            <a:ext cx="5716587" cy="3476861"/>
          </a:xfrm>
        </p:spPr>
        <p:txBody>
          <a:bodyPr>
            <a:normAutofit fontScale="85000" lnSpcReduction="10000"/>
          </a:bodyPr>
          <a:lstStyle/>
          <a:p>
            <a:pPr marL="0" indent="0" algn="just">
              <a:lnSpc>
                <a:spcPct val="160000"/>
              </a:lnSpc>
              <a:buNone/>
            </a:pPr>
            <a:r>
              <a:rPr lang="en-I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MQ2 gas sensor is an electronic sensor used for sensing the concentration of gases in the air such as LPG, propane, methane, hydrogen, alcohol, smoke and carbon monoxide. It contains a sensing material whose resistance changes when it comes in contact with the gas. This change in the value of resistance is used for the detection of gas. MQ2 is a metal </a:t>
            </a:r>
            <a:r>
              <a:rPr lang="en-IN" sz="19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oxide Semiconductor</a:t>
            </a:r>
            <a:r>
              <a:rPr lang="en-IN" sz="19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type gas sensor. This sensor works on 5V DC voltage. It can detect gases in the concentration of range 200 to 10000ppm.</a:t>
            </a:r>
          </a:p>
          <a:p>
            <a:pPr marL="0" indent="0">
              <a:buNone/>
            </a:pPr>
            <a:endParaRPr lang="en-IN"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445168D-AC27-47CD-8EC9-20B443D08D69}"/>
              </a:ext>
            </a:extLst>
          </p:cNvPr>
          <p:cNvPicPr>
            <a:picLocks noChangeAspect="1"/>
          </p:cNvPicPr>
          <p:nvPr/>
        </p:nvPicPr>
        <p:blipFill>
          <a:blip r:embed="rId2"/>
          <a:stretch>
            <a:fillRect/>
          </a:stretch>
        </p:blipFill>
        <p:spPr>
          <a:xfrm>
            <a:off x="7509754" y="495030"/>
            <a:ext cx="3837156" cy="1956950"/>
          </a:xfrm>
          <a:prstGeom prst="rect">
            <a:avLst/>
          </a:prstGeom>
        </p:spPr>
      </p:pic>
      <p:sp>
        <p:nvSpPr>
          <p:cNvPr id="6" name="TextBox 5">
            <a:extLst>
              <a:ext uri="{FF2B5EF4-FFF2-40B4-BE49-F238E27FC236}">
                <a16:creationId xmlns:a16="http://schemas.microsoft.com/office/drawing/2014/main" id="{180EF061-1038-443C-BCB2-BBF1F7DE932B}"/>
              </a:ext>
            </a:extLst>
          </p:cNvPr>
          <p:cNvSpPr txBox="1"/>
          <p:nvPr/>
        </p:nvSpPr>
        <p:spPr>
          <a:xfrm>
            <a:off x="8278238" y="2575468"/>
            <a:ext cx="2614818" cy="369332"/>
          </a:xfrm>
          <a:prstGeom prst="rect">
            <a:avLst/>
          </a:prstGeom>
          <a:noFill/>
        </p:spPr>
        <p:txBody>
          <a:bodyPr wrap="none" rtlCol="0">
            <a:spAutoFit/>
          </a:bodyPr>
          <a:lstStyle/>
          <a:p>
            <a:r>
              <a:rPr lang="en-IN" sz="1800" dirty="0">
                <a:solidFill>
                  <a:schemeClr val="bg1"/>
                </a:solidFill>
                <a:latin typeface="Times New Roman" panose="02020603050405020304" pitchFamily="18" charset="0"/>
                <a:cs typeface="Times New Roman" panose="02020603050405020304" pitchFamily="18" charset="0"/>
              </a:rPr>
              <a:t>Figure 2:MQ2 Gas Sensor</a:t>
            </a:r>
            <a:endParaRPr lang="en-IN" dirty="0"/>
          </a:p>
        </p:txBody>
      </p:sp>
    </p:spTree>
    <p:extLst>
      <p:ext uri="{BB962C8B-B14F-4D97-AF65-F5344CB8AC3E}">
        <p14:creationId xmlns:p14="http://schemas.microsoft.com/office/powerpoint/2010/main" val="104561716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1704E-8640-4B2A-B213-AE899D33BEC1}"/>
              </a:ext>
            </a:extLst>
          </p:cNvPr>
          <p:cNvSpPr>
            <a:spLocks noGrp="1"/>
          </p:cNvSpPr>
          <p:nvPr>
            <p:ph type="title"/>
          </p:nvPr>
        </p:nvSpPr>
        <p:spPr/>
        <p:txBody>
          <a:bodyPr/>
          <a:lstStyle/>
          <a:p>
            <a:r>
              <a:rPr lang="en-IN" dirty="0">
                <a:solidFill>
                  <a:schemeClr val="bg1"/>
                </a:solidFill>
                <a:latin typeface="Times New Roman" panose="02020603050405020304" pitchFamily="18" charset="0"/>
                <a:cs typeface="Times New Roman" panose="02020603050405020304" pitchFamily="18" charset="0"/>
              </a:rPr>
              <a:t>Arduino IDE</a:t>
            </a:r>
          </a:p>
        </p:txBody>
      </p:sp>
      <p:sp>
        <p:nvSpPr>
          <p:cNvPr id="3" name="Content Placeholder 2">
            <a:extLst>
              <a:ext uri="{FF2B5EF4-FFF2-40B4-BE49-F238E27FC236}">
                <a16:creationId xmlns:a16="http://schemas.microsoft.com/office/drawing/2014/main" id="{C063AE0E-11F6-4034-8112-52CE9A85174E}"/>
              </a:ext>
            </a:extLst>
          </p:cNvPr>
          <p:cNvSpPr>
            <a:spLocks noGrp="1"/>
          </p:cNvSpPr>
          <p:nvPr>
            <p:ph idx="1"/>
          </p:nvPr>
        </p:nvSpPr>
        <p:spPr>
          <a:xfrm>
            <a:off x="1141412" y="2249487"/>
            <a:ext cx="9905999" cy="3159092"/>
          </a:xfrm>
        </p:spPr>
        <p:txBody>
          <a:bodyPr>
            <a:normAutofit/>
          </a:bodyPr>
          <a:lstStyle/>
          <a:p>
            <a:pPr marL="0" marR="0" indent="0" algn="just">
              <a:spcAft>
                <a:spcPts val="1560"/>
              </a:spcAft>
              <a:buNone/>
            </a:pPr>
            <a:r>
              <a:rPr lang="en-US" sz="1800" b="0" i="0" dirty="0">
                <a:solidFill>
                  <a:srgbClr val="000000"/>
                </a:solidFill>
                <a:effectLst/>
                <a:latin typeface="Times New Roman" panose="02020603050405020304" pitchFamily="18" charset="0"/>
                <a:cs typeface="Times New Roman" panose="02020603050405020304" pitchFamily="18" charset="0"/>
              </a:rPr>
              <a:t>The Arduino IDE is a cross-platform application (for Windows, macOS, Linux) that is written in the programming language Java, C, C++. It is used to write and upload programs to Arduino compatible boards, but also, with the help of 3rd party cores, other vendor development boards. It also supports the languages C and C++ using special rules of code structuring.</a:t>
            </a:r>
            <a:endParaRPr lang="en-US" b="0" i="0" dirty="0">
              <a:solidFill>
                <a:srgbClr val="222222"/>
              </a:solidFill>
              <a:effectLst/>
              <a:latin typeface="Times New Roman" panose="02020603050405020304" pitchFamily="18" charset="0"/>
              <a:cs typeface="Times New Roman" panose="02020603050405020304" pitchFamily="18" charset="0"/>
            </a:endParaRPr>
          </a:p>
          <a:p>
            <a:pPr marL="0" marR="0" indent="0" algn="just">
              <a:spcAft>
                <a:spcPts val="1560"/>
              </a:spcAft>
              <a:buNone/>
            </a:pPr>
            <a:r>
              <a:rPr lang="en-US" sz="1800" b="0" i="0" dirty="0">
                <a:solidFill>
                  <a:srgbClr val="000000"/>
                </a:solidFill>
                <a:effectLst/>
                <a:latin typeface="Times New Roman" panose="02020603050405020304" pitchFamily="18" charset="0"/>
                <a:cs typeface="Times New Roman" panose="02020603050405020304" pitchFamily="18" charset="0"/>
              </a:rPr>
              <a:t>The Arduino IDE contains a text editor for writing code, a message area, a text console, a toolbar with buttons for common functions and a series of menus. Programs written using Arduino Software are called sketches.</a:t>
            </a:r>
            <a:endParaRPr lang="en-US" b="0" i="0" dirty="0">
              <a:solidFill>
                <a:srgbClr val="222222"/>
              </a:solidFill>
              <a:effectLst/>
              <a:latin typeface="Times New Roman" panose="02020603050405020304" pitchFamily="18" charset="0"/>
              <a:cs typeface="Times New Roman" panose="02020603050405020304" pitchFamily="18" charset="0"/>
            </a:endParaRPr>
          </a:p>
          <a:p>
            <a:pPr marL="0" indent="0">
              <a:buNone/>
            </a:pP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732242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13AF8-3615-43C5-B170-BE447682D08B}"/>
              </a:ext>
            </a:extLst>
          </p:cNvPr>
          <p:cNvSpPr>
            <a:spLocks noGrp="1"/>
          </p:cNvSpPr>
          <p:nvPr>
            <p:ph type="title"/>
          </p:nvPr>
        </p:nvSpPr>
        <p:spPr>
          <a:xfrm>
            <a:off x="1141413" y="618518"/>
            <a:ext cx="9905998" cy="1044912"/>
          </a:xfrm>
        </p:spPr>
        <p:txBody>
          <a:bodyPr/>
          <a:lstStyle/>
          <a:p>
            <a:r>
              <a:rPr lang="en-IN" dirty="0">
                <a:solidFill>
                  <a:schemeClr val="bg1"/>
                </a:solidFill>
                <a:latin typeface="Times New Roman" panose="02020603050405020304" pitchFamily="18" charset="0"/>
                <a:cs typeface="Times New Roman" panose="02020603050405020304" pitchFamily="18" charset="0"/>
              </a:rPr>
              <a:t>Blynk Application </a:t>
            </a:r>
          </a:p>
        </p:txBody>
      </p:sp>
      <p:sp>
        <p:nvSpPr>
          <p:cNvPr id="3" name="Content Placeholder 2">
            <a:extLst>
              <a:ext uri="{FF2B5EF4-FFF2-40B4-BE49-F238E27FC236}">
                <a16:creationId xmlns:a16="http://schemas.microsoft.com/office/drawing/2014/main" id="{E887C939-0764-418B-B614-FFFA29765508}"/>
              </a:ext>
            </a:extLst>
          </p:cNvPr>
          <p:cNvSpPr>
            <a:spLocks noGrp="1"/>
          </p:cNvSpPr>
          <p:nvPr>
            <p:ph idx="1"/>
          </p:nvPr>
        </p:nvSpPr>
        <p:spPr>
          <a:xfrm>
            <a:off x="1141412" y="1663430"/>
            <a:ext cx="9905999" cy="4127771"/>
          </a:xfrm>
        </p:spPr>
        <p:txBody>
          <a:bodyPr>
            <a:normAutofit fontScale="92500" lnSpcReduction="20000"/>
          </a:bodyPr>
          <a:lstStyle/>
          <a:p>
            <a:pPr marL="0" indent="0" algn="just" fontAlgn="base">
              <a:buNone/>
            </a:pPr>
            <a:r>
              <a:rPr lang="en-US" i="0" dirty="0">
                <a:solidFill>
                  <a:schemeClr val="bg1"/>
                </a:solidFill>
                <a:effectLst/>
                <a:latin typeface="Times New Roman" panose="02020603050405020304" pitchFamily="18" charset="0"/>
                <a:cs typeface="Times New Roman" panose="02020603050405020304" pitchFamily="18" charset="0"/>
              </a:rPr>
              <a:t>Blynk was designed for the Internet of Things. It can control hardware remotely, it can display sensor data, it can store data, visualize it and do many other cool things.</a:t>
            </a:r>
          </a:p>
          <a:p>
            <a:pPr marL="0" indent="0" algn="just" fontAlgn="base">
              <a:buNone/>
            </a:pPr>
            <a:r>
              <a:rPr lang="en-US" i="0" dirty="0">
                <a:solidFill>
                  <a:schemeClr val="bg1"/>
                </a:solidFill>
                <a:effectLst/>
                <a:latin typeface="Times New Roman" panose="02020603050405020304" pitchFamily="18" charset="0"/>
                <a:cs typeface="Times New Roman" panose="02020603050405020304" pitchFamily="18" charset="0"/>
              </a:rPr>
              <a:t>There are three major components in the platform:</a:t>
            </a:r>
          </a:p>
          <a:p>
            <a:pPr marL="0" indent="0" algn="just" fontAlgn="base">
              <a:buNone/>
            </a:pPr>
            <a:r>
              <a:rPr lang="en-US" i="0" dirty="0">
                <a:solidFill>
                  <a:schemeClr val="bg1"/>
                </a:solidFill>
                <a:effectLst/>
                <a:latin typeface="Times New Roman" panose="02020603050405020304" pitchFamily="18" charset="0"/>
                <a:cs typeface="Times New Roman" panose="02020603050405020304" pitchFamily="18" charset="0"/>
              </a:rPr>
              <a:t>Blynk App - allows to create amazing interfaces for projects using various widgets we provide.</a:t>
            </a:r>
          </a:p>
          <a:p>
            <a:pPr marL="0" indent="0" algn="just" fontAlgn="base">
              <a:buNone/>
            </a:pPr>
            <a:r>
              <a:rPr lang="en-US" i="0" dirty="0">
                <a:solidFill>
                  <a:schemeClr val="bg1"/>
                </a:solidFill>
                <a:effectLst/>
                <a:latin typeface="Times New Roman" panose="02020603050405020304" pitchFamily="18" charset="0"/>
                <a:cs typeface="Times New Roman" panose="02020603050405020304" pitchFamily="18" charset="0"/>
              </a:rPr>
              <a:t>Blynk Server - responsible for all the communications between the smartphone and hardware. You can use our Blynk Cloud or run your private </a:t>
            </a:r>
            <a:r>
              <a:rPr lang="en-US" dirty="0">
                <a:solidFill>
                  <a:schemeClr val="bg1"/>
                </a:solidFill>
                <a:latin typeface="Times New Roman" panose="02020603050405020304" pitchFamily="18" charset="0"/>
                <a:cs typeface="Times New Roman" panose="02020603050405020304" pitchFamily="18" charset="0"/>
              </a:rPr>
              <a:t>B</a:t>
            </a:r>
            <a:r>
              <a:rPr lang="en-US" i="0" dirty="0">
                <a:solidFill>
                  <a:schemeClr val="bg1"/>
                </a:solidFill>
                <a:effectLst/>
                <a:latin typeface="Times New Roman" panose="02020603050405020304" pitchFamily="18" charset="0"/>
                <a:cs typeface="Times New Roman" panose="02020603050405020304" pitchFamily="18" charset="0"/>
              </a:rPr>
              <a:t>lynk server locally. It’s open-source, could easily handle thousands of devices.  </a:t>
            </a:r>
          </a:p>
          <a:p>
            <a:pPr marL="0" indent="0" algn="just" fontAlgn="base">
              <a:buNone/>
            </a:pPr>
            <a:r>
              <a:rPr lang="en-US" i="0" dirty="0">
                <a:solidFill>
                  <a:schemeClr val="bg1"/>
                </a:solidFill>
                <a:effectLst/>
                <a:latin typeface="Times New Roman" panose="02020603050405020304" pitchFamily="18" charset="0"/>
                <a:cs typeface="Times New Roman" panose="02020603050405020304" pitchFamily="18" charset="0"/>
              </a:rPr>
              <a:t>Blynk Libraries - for all the popular hardware platforms - enable communication with the server and process all the incoming and outcoming commands.</a:t>
            </a:r>
          </a:p>
          <a:p>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172084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89E71-5EF5-433C-BCC6-24BD8D9B4587}"/>
              </a:ext>
            </a:extLst>
          </p:cNvPr>
          <p:cNvSpPr>
            <a:spLocks noGrp="1"/>
          </p:cNvSpPr>
          <p:nvPr>
            <p:ph type="title"/>
          </p:nvPr>
        </p:nvSpPr>
        <p:spPr/>
        <p:txBody>
          <a:bodyPr/>
          <a:lstStyle/>
          <a:p>
            <a:r>
              <a:rPr lang="en-IN" dirty="0">
                <a:solidFill>
                  <a:schemeClr val="bg1"/>
                </a:solidFill>
                <a:latin typeface="Times New Roman" panose="02020603050405020304" pitchFamily="18" charset="0"/>
                <a:cs typeface="Times New Roman" panose="02020603050405020304" pitchFamily="18" charset="0"/>
              </a:rPr>
              <a:t>Blynk Setup</a:t>
            </a:r>
          </a:p>
        </p:txBody>
      </p:sp>
      <p:sp>
        <p:nvSpPr>
          <p:cNvPr id="3" name="Content Placeholder 2">
            <a:extLst>
              <a:ext uri="{FF2B5EF4-FFF2-40B4-BE49-F238E27FC236}">
                <a16:creationId xmlns:a16="http://schemas.microsoft.com/office/drawing/2014/main" id="{3CA7FE24-4F33-45D4-BAC3-52678C0297A5}"/>
              </a:ext>
            </a:extLst>
          </p:cNvPr>
          <p:cNvSpPr>
            <a:spLocks noGrp="1"/>
          </p:cNvSpPr>
          <p:nvPr>
            <p:ph idx="1"/>
          </p:nvPr>
        </p:nvSpPr>
        <p:spPr>
          <a:xfrm>
            <a:off x="1141412" y="1926078"/>
            <a:ext cx="9905999" cy="4241258"/>
          </a:xfrm>
        </p:spPr>
        <p:txBody>
          <a:bodyPr>
            <a:normAutofit fontScale="77500" lnSpcReduction="20000"/>
          </a:bodyPr>
          <a:lstStyle/>
          <a:p>
            <a:pPr algn="just"/>
            <a:r>
              <a:rPr lang="en-US" i="0" dirty="0">
                <a:solidFill>
                  <a:schemeClr val="bg1"/>
                </a:solidFill>
                <a:effectLst/>
                <a:latin typeface="Times New Roman" panose="02020603050405020304" pitchFamily="18" charset="0"/>
                <a:cs typeface="Times New Roman" panose="02020603050405020304" pitchFamily="18" charset="0"/>
              </a:rPr>
              <a:t>Install </a:t>
            </a:r>
            <a:r>
              <a:rPr lang="en-US" dirty="0">
                <a:solidFill>
                  <a:schemeClr val="bg1"/>
                </a:solidFill>
                <a:latin typeface="Times New Roman" panose="02020603050405020304" pitchFamily="18" charset="0"/>
                <a:cs typeface="Times New Roman" panose="02020603050405020304" pitchFamily="18" charset="0"/>
              </a:rPr>
              <a:t>B</a:t>
            </a:r>
            <a:r>
              <a:rPr lang="en-US" i="0" dirty="0">
                <a:solidFill>
                  <a:schemeClr val="bg1"/>
                </a:solidFill>
                <a:effectLst/>
                <a:latin typeface="Times New Roman" panose="02020603050405020304" pitchFamily="18" charset="0"/>
                <a:cs typeface="Times New Roman" panose="02020603050405020304" pitchFamily="18" charset="0"/>
              </a:rPr>
              <a:t>lynk application from play store or iOS app store.</a:t>
            </a:r>
          </a:p>
          <a:p>
            <a:pPr algn="just"/>
            <a:r>
              <a:rPr lang="en-US" i="0" dirty="0">
                <a:solidFill>
                  <a:schemeClr val="bg1"/>
                </a:solidFill>
                <a:effectLst/>
                <a:latin typeface="Times New Roman" panose="02020603050405020304" pitchFamily="18" charset="0"/>
                <a:cs typeface="Times New Roman" panose="02020603050405020304" pitchFamily="18" charset="0"/>
              </a:rPr>
              <a:t>Open Blynk App and tap on New Project</a:t>
            </a:r>
          </a:p>
          <a:p>
            <a:pPr algn="just"/>
            <a:r>
              <a:rPr lang="en-US" i="0" dirty="0">
                <a:solidFill>
                  <a:schemeClr val="bg1"/>
                </a:solidFill>
                <a:effectLst/>
                <a:latin typeface="Times New Roman" panose="02020603050405020304" pitchFamily="18" charset="0"/>
                <a:cs typeface="Times New Roman" panose="02020603050405020304" pitchFamily="18" charset="0"/>
              </a:rPr>
              <a:t>Enter a name of the project, Choose device as NodeMCU and tap on Create.</a:t>
            </a:r>
          </a:p>
          <a:p>
            <a:pPr algn="just"/>
            <a:r>
              <a:rPr lang="en-US" i="0" dirty="0">
                <a:solidFill>
                  <a:schemeClr val="bg1"/>
                </a:solidFill>
                <a:effectLst/>
                <a:latin typeface="Times New Roman" panose="02020603050405020304" pitchFamily="18" charset="0"/>
                <a:cs typeface="Times New Roman" panose="02020603050405020304" pitchFamily="18" charset="0"/>
              </a:rPr>
              <a:t>An Auth  Token will be sent to registered email address. Tap on OK</a:t>
            </a:r>
          </a:p>
          <a:p>
            <a:pPr algn="just"/>
            <a:r>
              <a:rPr lang="en-US" i="0" dirty="0">
                <a:solidFill>
                  <a:schemeClr val="bg1"/>
                </a:solidFill>
                <a:effectLst/>
                <a:latin typeface="Times New Roman" panose="02020603050405020304" pitchFamily="18" charset="0"/>
                <a:cs typeface="Times New Roman" panose="02020603050405020304" pitchFamily="18" charset="0"/>
              </a:rPr>
              <a:t>Now tap on the highlighted icon to add widgets</a:t>
            </a:r>
          </a:p>
          <a:p>
            <a:pPr algn="just"/>
            <a:r>
              <a:rPr lang="en-US" i="0" dirty="0">
                <a:solidFill>
                  <a:schemeClr val="bg1"/>
                </a:solidFill>
                <a:effectLst/>
                <a:latin typeface="Times New Roman" panose="02020603050405020304" pitchFamily="18" charset="0"/>
                <a:cs typeface="Times New Roman" panose="02020603050405020304" pitchFamily="18" charset="0"/>
              </a:rPr>
              <a:t>Scroll down and select Gauge</a:t>
            </a:r>
            <a:endParaRPr lang="en-US" dirty="0">
              <a:solidFill>
                <a:schemeClr val="bg1"/>
              </a:solidFill>
              <a:latin typeface="Times New Roman" panose="02020603050405020304" pitchFamily="18" charset="0"/>
              <a:cs typeface="Times New Roman" panose="02020603050405020304" pitchFamily="18" charset="0"/>
            </a:endParaRPr>
          </a:p>
          <a:p>
            <a:pPr algn="just"/>
            <a:r>
              <a:rPr lang="en-US" i="0" dirty="0">
                <a:solidFill>
                  <a:schemeClr val="bg1"/>
                </a:solidFill>
                <a:effectLst/>
                <a:latin typeface="Times New Roman" panose="02020603050405020304" pitchFamily="18" charset="0"/>
                <a:cs typeface="Times New Roman" panose="02020603050405020304" pitchFamily="18" charset="0"/>
              </a:rPr>
              <a:t>Scroll down and select Notification widget</a:t>
            </a:r>
          </a:p>
          <a:p>
            <a:pPr algn="just"/>
            <a:r>
              <a:rPr lang="en-US" i="0" dirty="0">
                <a:solidFill>
                  <a:schemeClr val="bg1"/>
                </a:solidFill>
                <a:effectLst/>
                <a:latin typeface="Times New Roman" panose="02020603050405020304" pitchFamily="18" charset="0"/>
                <a:cs typeface="Times New Roman" panose="02020603050405020304" pitchFamily="18" charset="0"/>
              </a:rPr>
              <a:t>Tap on Gauge and configure it with below parameters.</a:t>
            </a:r>
          </a:p>
          <a:p>
            <a:pPr algn="just"/>
            <a:r>
              <a:rPr lang="en-US" i="0" dirty="0">
                <a:solidFill>
                  <a:schemeClr val="bg1"/>
                </a:solidFill>
                <a:effectLst/>
                <a:latin typeface="Times New Roman" panose="02020603050405020304" pitchFamily="18" charset="0"/>
                <a:cs typeface="Times New Roman" panose="02020603050405020304" pitchFamily="18" charset="0"/>
              </a:rPr>
              <a:t>Finally Blynk Project is ready. Press the triangular play button to start.</a:t>
            </a:r>
          </a:p>
          <a:p>
            <a:pPr algn="just"/>
            <a:r>
              <a:rPr lang="en-US" i="0" dirty="0">
                <a:solidFill>
                  <a:schemeClr val="bg1"/>
                </a:solidFill>
                <a:effectLst/>
                <a:latin typeface="Times New Roman" panose="02020603050405020304" pitchFamily="18" charset="0"/>
                <a:cs typeface="Times New Roman" panose="02020603050405020304" pitchFamily="18" charset="0"/>
              </a:rPr>
              <a:t>Once project is ready and the hardware is connected with </a:t>
            </a:r>
            <a:r>
              <a:rPr lang="en-US" dirty="0">
                <a:solidFill>
                  <a:schemeClr val="bg1"/>
                </a:solidFill>
                <a:latin typeface="Times New Roman" panose="02020603050405020304" pitchFamily="18" charset="0"/>
                <a:cs typeface="Times New Roman" panose="02020603050405020304" pitchFamily="18" charset="0"/>
              </a:rPr>
              <a:t>B</a:t>
            </a:r>
            <a:r>
              <a:rPr lang="en-US" i="0" dirty="0">
                <a:solidFill>
                  <a:schemeClr val="bg1"/>
                </a:solidFill>
                <a:effectLst/>
                <a:latin typeface="Times New Roman" panose="02020603050405020304" pitchFamily="18" charset="0"/>
                <a:cs typeface="Times New Roman" panose="02020603050405020304" pitchFamily="18" charset="0"/>
              </a:rPr>
              <a:t>lynk then it will show the gas level.</a:t>
            </a:r>
          </a:p>
          <a:p>
            <a:pPr marL="0" indent="0">
              <a:buNone/>
            </a:pP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5391211"/>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C0ACE-80C8-4D89-A432-2AA8580B2DCB}"/>
              </a:ext>
            </a:extLst>
          </p:cNvPr>
          <p:cNvSpPr>
            <a:spLocks noGrp="1"/>
          </p:cNvSpPr>
          <p:nvPr>
            <p:ph type="title"/>
          </p:nvPr>
        </p:nvSpPr>
        <p:spPr/>
        <p:txBody>
          <a:bodyPr/>
          <a:lstStyle/>
          <a:p>
            <a:r>
              <a:rPr lang="en-IN" dirty="0">
                <a:solidFill>
                  <a:schemeClr val="bg1"/>
                </a:solidFill>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FEE69AF2-2840-468C-9910-31BA0AFEEAE3}"/>
              </a:ext>
            </a:extLst>
          </p:cNvPr>
          <p:cNvSpPr>
            <a:spLocks noGrp="1"/>
          </p:cNvSpPr>
          <p:nvPr>
            <p:ph idx="1"/>
          </p:nvPr>
        </p:nvSpPr>
        <p:spPr>
          <a:xfrm>
            <a:off x="1141412" y="1692613"/>
            <a:ext cx="9905999" cy="4098588"/>
          </a:xfrm>
        </p:spPr>
        <p:txBody>
          <a:bodyPr/>
          <a:lstStyle/>
          <a:p>
            <a:pPr marL="0" indent="0">
              <a:buNone/>
            </a:pPr>
            <a:r>
              <a:rPr lang="en-US" dirty="0">
                <a:solidFill>
                  <a:schemeClr val="bg1"/>
                </a:solidFill>
                <a:latin typeface="Times New Roman" panose="02020603050405020304" pitchFamily="18" charset="0"/>
                <a:cs typeface="Times New Roman" panose="02020603050405020304" pitchFamily="18" charset="0"/>
              </a:rPr>
              <a:t>The functionality of system is divided into three main steps. </a:t>
            </a:r>
          </a:p>
          <a:p>
            <a:pPr marL="0" indent="0">
              <a:buNone/>
            </a:pPr>
            <a:r>
              <a:rPr lang="en-US" dirty="0">
                <a:solidFill>
                  <a:schemeClr val="bg1"/>
                </a:solidFill>
                <a:latin typeface="Times New Roman" panose="02020603050405020304" pitchFamily="18" charset="0"/>
                <a:cs typeface="Times New Roman" panose="02020603050405020304" pitchFamily="18" charset="0"/>
              </a:rPr>
              <a:t>Step 1- The gas leakage is detected by the gas sensor. This detects the gas leakage and gives the signal to the microcontroller. </a:t>
            </a:r>
          </a:p>
          <a:p>
            <a:pPr marL="0" indent="0">
              <a:buNone/>
            </a:pPr>
            <a:r>
              <a:rPr lang="en-US" dirty="0">
                <a:solidFill>
                  <a:schemeClr val="bg1"/>
                </a:solidFill>
                <a:latin typeface="Times New Roman" panose="02020603050405020304" pitchFamily="18" charset="0"/>
                <a:cs typeface="Times New Roman" panose="02020603050405020304" pitchFamily="18" charset="0"/>
              </a:rPr>
              <a:t>Step 2- In second step the microcontroller receives the signal, which sends by gas sensor. </a:t>
            </a:r>
          </a:p>
          <a:p>
            <a:pPr marL="0" indent="0">
              <a:buNone/>
            </a:pPr>
            <a:r>
              <a:rPr lang="en-US" dirty="0">
                <a:solidFill>
                  <a:schemeClr val="bg1"/>
                </a:solidFill>
                <a:latin typeface="Times New Roman" panose="02020603050405020304" pitchFamily="18" charset="0"/>
                <a:cs typeface="Times New Roman" panose="02020603050405020304" pitchFamily="18" charset="0"/>
              </a:rPr>
              <a:t>Step 3- It sends activation signal to other external devices.</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175042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1A01F2-2480-42FA-A19D-73298BD0BFAD}"/>
              </a:ext>
            </a:extLst>
          </p:cNvPr>
          <p:cNvPicPr>
            <a:picLocks noGrp="1" noChangeAspect="1"/>
          </p:cNvPicPr>
          <p:nvPr>
            <p:ph idx="1"/>
          </p:nvPr>
        </p:nvPicPr>
        <p:blipFill>
          <a:blip r:embed="rId2"/>
          <a:stretch>
            <a:fillRect/>
          </a:stretch>
        </p:blipFill>
        <p:spPr>
          <a:xfrm>
            <a:off x="2461099" y="618518"/>
            <a:ext cx="6848272" cy="4750340"/>
          </a:xfrm>
        </p:spPr>
      </p:pic>
      <p:sp>
        <p:nvSpPr>
          <p:cNvPr id="8" name="TextBox 7">
            <a:extLst>
              <a:ext uri="{FF2B5EF4-FFF2-40B4-BE49-F238E27FC236}">
                <a16:creationId xmlns:a16="http://schemas.microsoft.com/office/drawing/2014/main" id="{AD21B17A-E52B-431F-8275-74BDB4E3B42A}"/>
              </a:ext>
            </a:extLst>
          </p:cNvPr>
          <p:cNvSpPr txBox="1"/>
          <p:nvPr/>
        </p:nvSpPr>
        <p:spPr>
          <a:xfrm>
            <a:off x="5131663" y="5486400"/>
            <a:ext cx="2399824" cy="369332"/>
          </a:xfrm>
          <a:prstGeom prst="rect">
            <a:avLst/>
          </a:prstGeom>
          <a:noFill/>
        </p:spPr>
        <p:txBody>
          <a:bodyPr wrap="none" rtlCol="0">
            <a:spAutoFit/>
          </a:bodyPr>
          <a:lstStyle/>
          <a:p>
            <a:r>
              <a:rPr lang="en-IN" dirty="0">
                <a:solidFill>
                  <a:schemeClr val="bg1"/>
                </a:solidFill>
                <a:latin typeface="Times New Roman" panose="02020603050405020304" pitchFamily="18" charset="0"/>
                <a:cs typeface="Times New Roman" panose="02020603050405020304" pitchFamily="18" charset="0"/>
              </a:rPr>
              <a:t>Figure 3: Working chart</a:t>
            </a:r>
          </a:p>
        </p:txBody>
      </p:sp>
    </p:spTree>
    <p:extLst>
      <p:ext uri="{BB962C8B-B14F-4D97-AF65-F5344CB8AC3E}">
        <p14:creationId xmlns:p14="http://schemas.microsoft.com/office/powerpoint/2010/main" val="1342087874"/>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F2D71-D226-4E8C-A288-760666B5E323}"/>
              </a:ext>
            </a:extLst>
          </p:cNvPr>
          <p:cNvSpPr>
            <a:spLocks noGrp="1"/>
          </p:cNvSpPr>
          <p:nvPr>
            <p:ph type="title"/>
          </p:nvPr>
        </p:nvSpPr>
        <p:spPr/>
        <p:txBody>
          <a:bodyPr/>
          <a:lstStyle/>
          <a:p>
            <a:r>
              <a:rPr lang="en-IN" dirty="0">
                <a:solidFill>
                  <a:schemeClr val="bg1"/>
                </a:solidFill>
                <a:latin typeface="Times New Roman" panose="02020603050405020304" pitchFamily="18" charset="0"/>
                <a:cs typeface="Times New Roman" panose="02020603050405020304" pitchFamily="18" charset="0"/>
              </a:rPr>
              <a:t>Circuit Design</a:t>
            </a:r>
          </a:p>
        </p:txBody>
      </p:sp>
      <p:pic>
        <p:nvPicPr>
          <p:cNvPr id="5" name="Content Placeholder 4">
            <a:extLst>
              <a:ext uri="{FF2B5EF4-FFF2-40B4-BE49-F238E27FC236}">
                <a16:creationId xmlns:a16="http://schemas.microsoft.com/office/drawing/2014/main" id="{3AA1355C-204C-4610-9054-BDD656D06336}"/>
              </a:ext>
            </a:extLst>
          </p:cNvPr>
          <p:cNvPicPr>
            <a:picLocks noGrp="1" noChangeAspect="1"/>
          </p:cNvPicPr>
          <p:nvPr>
            <p:ph idx="1"/>
          </p:nvPr>
        </p:nvPicPr>
        <p:blipFill>
          <a:blip r:embed="rId2"/>
          <a:stretch>
            <a:fillRect/>
          </a:stretch>
        </p:blipFill>
        <p:spPr>
          <a:xfrm>
            <a:off x="1328967" y="2072769"/>
            <a:ext cx="9167177" cy="3322423"/>
          </a:xfrm>
        </p:spPr>
      </p:pic>
      <p:sp>
        <p:nvSpPr>
          <p:cNvPr id="7" name="TextBox 6">
            <a:extLst>
              <a:ext uri="{FF2B5EF4-FFF2-40B4-BE49-F238E27FC236}">
                <a16:creationId xmlns:a16="http://schemas.microsoft.com/office/drawing/2014/main" id="{5291D4E6-4447-42F3-A13B-C0571BDCAF1B}"/>
              </a:ext>
            </a:extLst>
          </p:cNvPr>
          <p:cNvSpPr txBox="1"/>
          <p:nvPr/>
        </p:nvSpPr>
        <p:spPr>
          <a:xfrm>
            <a:off x="2931028" y="5570290"/>
            <a:ext cx="6099242" cy="369332"/>
          </a:xfrm>
          <a:prstGeom prst="rect">
            <a:avLst/>
          </a:prstGeom>
          <a:noFill/>
        </p:spPr>
        <p:txBody>
          <a:bodyPr wrap="square">
            <a:spAutoFit/>
          </a:bodyPr>
          <a:lstStyle/>
          <a:p>
            <a:r>
              <a:rPr lang="en-US" b="1" dirty="0">
                <a:solidFill>
                  <a:schemeClr val="bg1"/>
                </a:solidFill>
                <a:latin typeface="Times New Roman" panose="02020603050405020304" pitchFamily="18" charset="0"/>
                <a:cs typeface="Times New Roman" panose="02020603050405020304" pitchFamily="18" charset="0"/>
              </a:rPr>
              <a:t>Fig. 4: Circuit diagram of hazardous gas monitoring system</a:t>
            </a:r>
          </a:p>
        </p:txBody>
      </p:sp>
    </p:spTree>
    <p:extLst>
      <p:ext uri="{BB962C8B-B14F-4D97-AF65-F5344CB8AC3E}">
        <p14:creationId xmlns:p14="http://schemas.microsoft.com/office/powerpoint/2010/main" val="3178126402"/>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A9320-F800-47BE-8A7C-E4F30A0A2872}"/>
              </a:ext>
            </a:extLst>
          </p:cNvPr>
          <p:cNvSpPr>
            <a:spLocks noGrp="1"/>
          </p:cNvSpPr>
          <p:nvPr>
            <p:ph type="title"/>
          </p:nvPr>
        </p:nvSpPr>
        <p:spPr/>
        <p:txBody>
          <a:bodyPr/>
          <a:lstStyle/>
          <a:p>
            <a:r>
              <a:rPr lang="en-IN" dirty="0">
                <a:solidFill>
                  <a:schemeClr val="bg1"/>
                </a:solidFill>
                <a:latin typeface="Times New Roman" panose="02020603050405020304" pitchFamily="18" charset="0"/>
                <a:cs typeface="Times New Roman" panose="02020603050405020304" pitchFamily="18" charset="0"/>
              </a:rPr>
              <a:t>Connections</a:t>
            </a:r>
          </a:p>
        </p:txBody>
      </p:sp>
      <p:sp>
        <p:nvSpPr>
          <p:cNvPr id="3" name="Content Placeholder 2">
            <a:extLst>
              <a:ext uri="{FF2B5EF4-FFF2-40B4-BE49-F238E27FC236}">
                <a16:creationId xmlns:a16="http://schemas.microsoft.com/office/drawing/2014/main" id="{89C07B4A-02EA-4795-BA63-FCFF36B454AE}"/>
              </a:ext>
            </a:extLst>
          </p:cNvPr>
          <p:cNvSpPr>
            <a:spLocks noGrp="1"/>
          </p:cNvSpPr>
          <p:nvPr>
            <p:ph sz="half" idx="1"/>
          </p:nvPr>
        </p:nvSpPr>
        <p:spPr>
          <a:xfrm>
            <a:off x="1141410" y="2249485"/>
            <a:ext cx="4878389" cy="3908123"/>
          </a:xfrm>
        </p:spPr>
        <p:txBody>
          <a:bodyPr>
            <a:normAutofit fontScale="77500" lnSpcReduction="20000"/>
          </a:bodyPr>
          <a:lstStyle/>
          <a:p>
            <a:pPr lvl="1" algn="just">
              <a:lnSpc>
                <a:spcPct val="170000"/>
              </a:lnSpc>
              <a:spcAft>
                <a:spcPts val="800"/>
              </a:spcAft>
            </a:pPr>
            <a:r>
              <a:rPr lang="en-IN"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NodeMCU Vin to Bus POS.</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70000"/>
              </a:lnSpc>
              <a:spcAft>
                <a:spcPts val="800"/>
              </a:spcAft>
            </a:pPr>
            <a:r>
              <a:rPr lang="en-IN"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NodeMCU GND to Bus GND.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70000"/>
              </a:lnSpc>
              <a:spcAft>
                <a:spcPts val="800"/>
              </a:spcAft>
            </a:pPr>
            <a:r>
              <a:rPr lang="en-IN"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VCC of MQ-5 to Bus POS.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70000"/>
              </a:lnSpc>
              <a:spcAft>
                <a:spcPts val="800"/>
              </a:spcAft>
            </a:pPr>
            <a:r>
              <a:rPr lang="en-IN"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GND of MQ-5 to Bus GND. </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70000"/>
              </a:lnSpc>
              <a:spcAft>
                <a:spcPts val="800"/>
              </a:spcAft>
            </a:pPr>
            <a:r>
              <a:rPr lang="en-IN"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A0 of NodeMCU to A0 of MQ-5 Sensor.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70000"/>
              </a:lnSpc>
              <a:spcAft>
                <a:spcPts val="800"/>
              </a:spcAft>
            </a:pPr>
            <a:r>
              <a:rPr lang="en-IN"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Buzzer POS to Bus POS. </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70000"/>
              </a:lnSpc>
              <a:spcAft>
                <a:spcPts val="800"/>
              </a:spcAft>
            </a:pPr>
            <a:r>
              <a:rPr lang="en-IN"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Buzzer negative to bus </a:t>
            </a:r>
            <a:r>
              <a:rPr lang="en-IN" sz="22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ground </a:t>
            </a:r>
            <a:r>
              <a:rPr lang="en-IN"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4" name="Content Placeholder 3">
            <a:extLst>
              <a:ext uri="{FF2B5EF4-FFF2-40B4-BE49-F238E27FC236}">
                <a16:creationId xmlns:a16="http://schemas.microsoft.com/office/drawing/2014/main" id="{EDE1CEF8-3F71-4D8A-9116-A7560141FA5A}"/>
              </a:ext>
            </a:extLst>
          </p:cNvPr>
          <p:cNvSpPr>
            <a:spLocks noGrp="1"/>
          </p:cNvSpPr>
          <p:nvPr>
            <p:ph sz="half" idx="2"/>
          </p:nvPr>
        </p:nvSpPr>
        <p:spPr>
          <a:xfrm>
            <a:off x="6172200" y="2249486"/>
            <a:ext cx="4875211" cy="3742752"/>
          </a:xfrm>
        </p:spPr>
        <p:txBody>
          <a:bodyPr>
            <a:normAutofit fontScale="77500" lnSpcReduction="20000"/>
          </a:bodyPr>
          <a:lstStyle/>
          <a:p>
            <a:pPr algn="just">
              <a:lnSpc>
                <a:spcPct val="170000"/>
              </a:lnSpc>
              <a:spcAft>
                <a:spcPts val="800"/>
              </a:spcAft>
            </a:pPr>
            <a:r>
              <a:rPr lang="en-IN" sz="2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Green LED Vin to NodeMCU D2. </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800"/>
              </a:spcAft>
            </a:pPr>
            <a:r>
              <a:rPr lang="en-IN" sz="2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Red LED Vin to NodeMCU D5. </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800"/>
              </a:spcAft>
            </a:pPr>
            <a:r>
              <a:rPr lang="en-IN" sz="2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Green LED GND to Bus GND. </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800"/>
              </a:spcAft>
            </a:pPr>
            <a:r>
              <a:rPr lang="en-IN" sz="2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Red LED GND to Bus GND.</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0056339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35E3C-88C5-461C-A8F3-91E522E076AC}"/>
              </a:ext>
            </a:extLst>
          </p:cNvPr>
          <p:cNvSpPr>
            <a:spLocks noGrp="1"/>
          </p:cNvSpPr>
          <p:nvPr>
            <p:ph type="title"/>
          </p:nvPr>
        </p:nvSpPr>
        <p:spPr>
          <a:xfrm>
            <a:off x="1141413" y="618518"/>
            <a:ext cx="9905998" cy="1064367"/>
          </a:xfrm>
        </p:spPr>
        <p:txBody>
          <a:bodyPr/>
          <a:lstStyle/>
          <a:p>
            <a:r>
              <a:rPr lang="en-IN" dirty="0">
                <a:solidFill>
                  <a:schemeClr val="bg1"/>
                </a:solidFill>
                <a:latin typeface="Times New Roman" panose="02020603050405020304" pitchFamily="18" charset="0"/>
                <a:cs typeface="Times New Roman" panose="02020603050405020304" pitchFamily="18" charset="0"/>
              </a:rPr>
              <a:t>working</a:t>
            </a:r>
          </a:p>
        </p:txBody>
      </p:sp>
      <p:sp>
        <p:nvSpPr>
          <p:cNvPr id="3" name="Content Placeholder 2">
            <a:extLst>
              <a:ext uri="{FF2B5EF4-FFF2-40B4-BE49-F238E27FC236}">
                <a16:creationId xmlns:a16="http://schemas.microsoft.com/office/drawing/2014/main" id="{F771D6A2-6971-4969-B3C9-36D14E751CE6}"/>
              </a:ext>
            </a:extLst>
          </p:cNvPr>
          <p:cNvSpPr>
            <a:spLocks noGrp="1"/>
          </p:cNvSpPr>
          <p:nvPr>
            <p:ph idx="1"/>
          </p:nvPr>
        </p:nvSpPr>
        <p:spPr>
          <a:xfrm>
            <a:off x="1141412" y="1819072"/>
            <a:ext cx="9905999" cy="3972129"/>
          </a:xfrm>
        </p:spPr>
        <p:txBody>
          <a:bodyPr/>
          <a:lstStyle/>
          <a:p>
            <a:pPr marL="0" indent="0" algn="just">
              <a:buNone/>
            </a:pPr>
            <a:r>
              <a:rPr lang="en-IN" dirty="0">
                <a:solidFill>
                  <a:schemeClr val="bg1"/>
                </a:solidFill>
                <a:latin typeface="Times New Roman" panose="02020603050405020304" pitchFamily="18" charset="0"/>
                <a:cs typeface="Times New Roman" panose="02020603050405020304" pitchFamily="18" charset="0"/>
              </a:rPr>
              <a:t>Sensor senses the gas and gives data to microcontroller NodeMCU. In this system NodeMCU works as both Microcontroller and Wi-Fi module, NodeMCU takes data from Sensor and as per coding give data to Blynk Application which shows live gas level on portable device and if gas leakage occurs our green LED glows, Buzzer gives beep sound and alerting notification pop-up’s on Mobile phone.</a:t>
            </a:r>
          </a:p>
        </p:txBody>
      </p:sp>
    </p:spTree>
    <p:extLst>
      <p:ext uri="{BB962C8B-B14F-4D97-AF65-F5344CB8AC3E}">
        <p14:creationId xmlns:p14="http://schemas.microsoft.com/office/powerpoint/2010/main" val="1342138356"/>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0803C-60CC-4173-8F3F-4974229FD396}"/>
              </a:ext>
            </a:extLst>
          </p:cNvPr>
          <p:cNvSpPr>
            <a:spLocks noGrp="1"/>
          </p:cNvSpPr>
          <p:nvPr>
            <p:ph type="title"/>
          </p:nvPr>
        </p:nvSpPr>
        <p:spPr/>
        <p:txBody>
          <a:bodyPr/>
          <a:lstStyle/>
          <a:p>
            <a:r>
              <a:rPr lang="en-IN" dirty="0">
                <a:solidFill>
                  <a:schemeClr val="bg1"/>
                </a:solidFill>
                <a:latin typeface="Times New Roman" panose="02020603050405020304" pitchFamily="18" charset="0"/>
                <a:cs typeface="Times New Roman" panose="02020603050405020304" pitchFamily="18" charset="0"/>
              </a:rPr>
              <a:t>result</a:t>
            </a:r>
          </a:p>
        </p:txBody>
      </p:sp>
      <p:sp>
        <p:nvSpPr>
          <p:cNvPr id="3" name="Content Placeholder 2">
            <a:extLst>
              <a:ext uri="{FF2B5EF4-FFF2-40B4-BE49-F238E27FC236}">
                <a16:creationId xmlns:a16="http://schemas.microsoft.com/office/drawing/2014/main" id="{CF69A4DC-5225-4805-A552-3B97B73741B4}"/>
              </a:ext>
            </a:extLst>
          </p:cNvPr>
          <p:cNvSpPr>
            <a:spLocks noGrp="1"/>
          </p:cNvSpPr>
          <p:nvPr>
            <p:ph idx="1"/>
          </p:nvPr>
        </p:nvSpPr>
        <p:spPr/>
        <p:txBody>
          <a:bodyPr>
            <a:normAutofit/>
          </a:bodyPr>
          <a:lstStyle/>
          <a:p>
            <a:pPr marL="0" indent="0" algn="just">
              <a:buNone/>
            </a:pPr>
            <a:r>
              <a:rPr lang="en-US" b="0" i="0" dirty="0">
                <a:solidFill>
                  <a:schemeClr val="bg1"/>
                </a:solidFill>
                <a:effectLst/>
                <a:latin typeface="Times New Roman" panose="02020603050405020304" pitchFamily="18" charset="0"/>
                <a:cs typeface="Times New Roman" panose="02020603050405020304" pitchFamily="18" charset="0"/>
              </a:rPr>
              <a:t>The </a:t>
            </a:r>
            <a:r>
              <a:rPr lang="en-US" dirty="0">
                <a:solidFill>
                  <a:schemeClr val="bg1"/>
                </a:solidFill>
                <a:latin typeface="Times New Roman" panose="02020603050405020304" pitchFamily="18" charset="0"/>
                <a:cs typeface="Times New Roman" panose="02020603050405020304" pitchFamily="18" charset="0"/>
              </a:rPr>
              <a:t>RED</a:t>
            </a:r>
            <a:r>
              <a:rPr lang="en-US" b="0" i="0" dirty="0">
                <a:solidFill>
                  <a:schemeClr val="bg1"/>
                </a:solidFill>
                <a:effectLst/>
                <a:latin typeface="Times New Roman" panose="02020603050405020304" pitchFamily="18" charset="0"/>
                <a:cs typeface="Times New Roman" panose="02020603050405020304" pitchFamily="18" charset="0"/>
              </a:rPr>
              <a:t> light will be </a:t>
            </a:r>
            <a:r>
              <a:rPr lang="en-US" b="1" i="0" dirty="0">
                <a:solidFill>
                  <a:schemeClr val="bg1"/>
                </a:solidFill>
                <a:effectLst/>
                <a:latin typeface="Times New Roman" panose="02020603050405020304" pitchFamily="18" charset="0"/>
                <a:cs typeface="Times New Roman" panose="02020603050405020304" pitchFamily="18" charset="0"/>
              </a:rPr>
              <a:t>ON</a:t>
            </a:r>
            <a:r>
              <a:rPr lang="en-US" b="0" i="0" dirty="0">
                <a:solidFill>
                  <a:schemeClr val="bg1"/>
                </a:solidFill>
                <a:effectLst/>
                <a:latin typeface="Times New Roman" panose="02020603050405020304" pitchFamily="18" charset="0"/>
                <a:cs typeface="Times New Roman" panose="02020603050405020304" pitchFamily="18" charset="0"/>
              </a:rPr>
              <a:t> indicating no gas leakage detected. The buzzer will also be is </a:t>
            </a:r>
            <a:r>
              <a:rPr lang="en-US" b="1" i="0" dirty="0">
                <a:solidFill>
                  <a:schemeClr val="bg1"/>
                </a:solidFill>
                <a:effectLst/>
                <a:latin typeface="Times New Roman" panose="02020603050405020304" pitchFamily="18" charset="0"/>
                <a:cs typeface="Times New Roman" panose="02020603050405020304" pitchFamily="18" charset="0"/>
              </a:rPr>
              <a:t>OFF</a:t>
            </a:r>
            <a:r>
              <a:rPr lang="en-US" b="0" i="0" dirty="0">
                <a:solidFill>
                  <a:schemeClr val="bg1"/>
                </a:solidFill>
                <a:effectLst/>
                <a:latin typeface="Times New Roman" panose="02020603050405020304" pitchFamily="18" charset="0"/>
                <a:cs typeface="Times New Roman" panose="02020603050405020304" pitchFamily="18" charset="0"/>
              </a:rPr>
              <a:t> state. In Case any gas detected and the gas level increases beyond </a:t>
            </a:r>
            <a:r>
              <a:rPr lang="en-US" dirty="0">
                <a:solidFill>
                  <a:schemeClr val="bg1"/>
                </a:solidFill>
                <a:latin typeface="Times New Roman" panose="02020603050405020304" pitchFamily="18" charset="0"/>
                <a:cs typeface="Times New Roman" panose="02020603050405020304" pitchFamily="18" charset="0"/>
              </a:rPr>
              <a:t>2</a:t>
            </a:r>
            <a:r>
              <a:rPr lang="en-US" b="0" i="0" dirty="0">
                <a:solidFill>
                  <a:schemeClr val="bg1"/>
                </a:solidFill>
                <a:effectLst/>
                <a:latin typeface="Times New Roman" panose="02020603050405020304" pitchFamily="18" charset="0"/>
                <a:cs typeface="Times New Roman" panose="02020603050405020304" pitchFamily="18" charset="0"/>
              </a:rPr>
              <a:t>00, then </a:t>
            </a:r>
            <a:r>
              <a:rPr lang="en-US" b="1" dirty="0">
                <a:solidFill>
                  <a:schemeClr val="bg1"/>
                </a:solidFill>
                <a:latin typeface="Times New Roman" panose="02020603050405020304" pitchFamily="18" charset="0"/>
                <a:cs typeface="Times New Roman" panose="02020603050405020304" pitchFamily="18" charset="0"/>
              </a:rPr>
              <a:t>green </a:t>
            </a:r>
            <a:r>
              <a:rPr lang="en-US" b="0" i="0" dirty="0">
                <a:solidFill>
                  <a:schemeClr val="bg1"/>
                </a:solidFill>
                <a:effectLst/>
                <a:latin typeface="Times New Roman" panose="02020603050405020304" pitchFamily="18" charset="0"/>
                <a:cs typeface="Times New Roman" panose="02020603050405020304" pitchFamily="18" charset="0"/>
              </a:rPr>
              <a:t>light and Buzzer will turn </a:t>
            </a:r>
            <a:r>
              <a:rPr lang="en-US" b="1" i="0" dirty="0">
                <a:solidFill>
                  <a:schemeClr val="bg1"/>
                </a:solidFill>
                <a:effectLst/>
                <a:latin typeface="Times New Roman" panose="02020603050405020304" pitchFamily="18" charset="0"/>
                <a:cs typeface="Times New Roman" panose="02020603050405020304" pitchFamily="18" charset="0"/>
              </a:rPr>
              <a:t>ON</a:t>
            </a:r>
            <a:r>
              <a:rPr lang="en-US" b="0" i="0" dirty="0">
                <a:solidFill>
                  <a:schemeClr val="bg1"/>
                </a:solidFill>
                <a:effectLst/>
                <a:latin typeface="Times New Roman" panose="02020603050405020304" pitchFamily="18" charset="0"/>
                <a:cs typeface="Times New Roman" panose="02020603050405020304" pitchFamily="18" charset="0"/>
              </a:rPr>
              <a:t> indicating gas leakage. </a:t>
            </a:r>
            <a:r>
              <a:rPr lang="en-US" dirty="0">
                <a:solidFill>
                  <a:schemeClr val="bg1"/>
                </a:solidFill>
                <a:latin typeface="Times New Roman" panose="02020603050405020304" pitchFamily="18" charset="0"/>
                <a:cs typeface="Times New Roman" panose="02020603050405020304" pitchFamily="18" charset="0"/>
              </a:rPr>
              <a:t>We</a:t>
            </a:r>
            <a:r>
              <a:rPr lang="en-US" b="0" i="0" dirty="0">
                <a:solidFill>
                  <a:schemeClr val="bg1"/>
                </a:solidFill>
                <a:effectLst/>
                <a:latin typeface="Times New Roman" panose="02020603050405020304" pitchFamily="18" charset="0"/>
                <a:cs typeface="Times New Roman" panose="02020603050405020304" pitchFamily="18" charset="0"/>
              </a:rPr>
              <a:t> will also get notified by </a:t>
            </a:r>
            <a:r>
              <a:rPr lang="en-US" dirty="0">
                <a:solidFill>
                  <a:schemeClr val="bg1"/>
                </a:solidFill>
                <a:latin typeface="Times New Roman" panose="02020603050405020304" pitchFamily="18" charset="0"/>
                <a:cs typeface="Times New Roman" panose="02020603050405020304" pitchFamily="18" charset="0"/>
              </a:rPr>
              <a:t>B</a:t>
            </a:r>
            <a:r>
              <a:rPr lang="en-US" b="0" i="0" dirty="0">
                <a:solidFill>
                  <a:schemeClr val="bg1"/>
                </a:solidFill>
                <a:effectLst/>
                <a:latin typeface="Times New Roman" panose="02020603050405020304" pitchFamily="18" charset="0"/>
                <a:cs typeface="Times New Roman" panose="02020603050405020304" pitchFamily="18" charset="0"/>
              </a:rPr>
              <a:t>lynk app as an alert.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0254168"/>
      </p:ext>
    </p:extLst>
  </p:cSld>
  <p:clrMapOvr>
    <a:masterClrMapping/>
  </p:clrMapOvr>
  <p:transition spd="slow">
    <p:comb/>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9EF6C-F84E-4498-B53A-B46D11F8C750}"/>
              </a:ext>
            </a:extLst>
          </p:cNvPr>
          <p:cNvSpPr>
            <a:spLocks noGrp="1"/>
          </p:cNvSpPr>
          <p:nvPr>
            <p:ph type="title"/>
          </p:nvPr>
        </p:nvSpPr>
        <p:spPr>
          <a:xfrm>
            <a:off x="1143001" y="297505"/>
            <a:ext cx="9905998" cy="1478570"/>
          </a:xfrm>
        </p:spPr>
        <p:txBody>
          <a:bodyPr/>
          <a:lstStyle/>
          <a:p>
            <a:r>
              <a:rPr lang="en-IN" dirty="0">
                <a:solidFill>
                  <a:schemeClr val="bg1"/>
                </a:solidFill>
                <a:latin typeface="Times New Roman" panose="02020603050405020304" pitchFamily="18" charset="0"/>
                <a:cs typeface="Times New Roman" panose="02020603050405020304" pitchFamily="18" charset="0"/>
              </a:rPr>
              <a:t>Snapshot</a:t>
            </a:r>
          </a:p>
        </p:txBody>
      </p:sp>
      <p:pic>
        <p:nvPicPr>
          <p:cNvPr id="5" name="Content Placeholder 4">
            <a:extLst>
              <a:ext uri="{FF2B5EF4-FFF2-40B4-BE49-F238E27FC236}">
                <a16:creationId xmlns:a16="http://schemas.microsoft.com/office/drawing/2014/main" id="{336B8F27-AFC4-4E9B-A6C1-6E6E0DEB54BB}"/>
              </a:ext>
            </a:extLst>
          </p:cNvPr>
          <p:cNvPicPr>
            <a:picLocks noGrp="1" noChangeAspect="1"/>
          </p:cNvPicPr>
          <p:nvPr>
            <p:ph idx="1"/>
          </p:nvPr>
        </p:nvPicPr>
        <p:blipFill>
          <a:blip r:embed="rId2"/>
          <a:stretch>
            <a:fillRect/>
          </a:stretch>
        </p:blipFill>
        <p:spPr>
          <a:xfrm>
            <a:off x="2426874" y="1698254"/>
            <a:ext cx="2086760" cy="4173520"/>
          </a:xfrm>
        </p:spPr>
      </p:pic>
      <p:pic>
        <p:nvPicPr>
          <p:cNvPr id="9" name="Picture 8">
            <a:extLst>
              <a:ext uri="{FF2B5EF4-FFF2-40B4-BE49-F238E27FC236}">
                <a16:creationId xmlns:a16="http://schemas.microsoft.com/office/drawing/2014/main" id="{A0B05179-D333-43C9-A85C-BD14F2BDB390}"/>
              </a:ext>
            </a:extLst>
          </p:cNvPr>
          <p:cNvPicPr>
            <a:picLocks noChangeAspect="1"/>
          </p:cNvPicPr>
          <p:nvPr/>
        </p:nvPicPr>
        <p:blipFill>
          <a:blip r:embed="rId3"/>
          <a:stretch>
            <a:fillRect/>
          </a:stretch>
        </p:blipFill>
        <p:spPr>
          <a:xfrm>
            <a:off x="7678368" y="1698254"/>
            <a:ext cx="2086760" cy="4173520"/>
          </a:xfrm>
          <a:prstGeom prst="rect">
            <a:avLst/>
          </a:prstGeom>
        </p:spPr>
      </p:pic>
      <p:sp>
        <p:nvSpPr>
          <p:cNvPr id="10" name="TextBox 9">
            <a:extLst>
              <a:ext uri="{FF2B5EF4-FFF2-40B4-BE49-F238E27FC236}">
                <a16:creationId xmlns:a16="http://schemas.microsoft.com/office/drawing/2014/main" id="{8C4C8117-2935-4EBE-B4CA-165BCD5C9391}"/>
              </a:ext>
            </a:extLst>
          </p:cNvPr>
          <p:cNvSpPr txBox="1"/>
          <p:nvPr/>
        </p:nvSpPr>
        <p:spPr>
          <a:xfrm>
            <a:off x="2366037" y="5871774"/>
            <a:ext cx="2486643" cy="369332"/>
          </a:xfrm>
          <a:prstGeom prst="rect">
            <a:avLst/>
          </a:prstGeom>
          <a:noFill/>
        </p:spPr>
        <p:txBody>
          <a:bodyPr wrap="none" rtlCol="0">
            <a:spAutoFit/>
          </a:bodyPr>
          <a:lstStyle/>
          <a:p>
            <a:r>
              <a:rPr lang="en-IN" dirty="0">
                <a:solidFill>
                  <a:schemeClr val="bg1"/>
                </a:solidFill>
                <a:latin typeface="Times New Roman" panose="02020603050405020304" pitchFamily="18" charset="0"/>
                <a:cs typeface="Times New Roman" panose="02020603050405020304" pitchFamily="18" charset="0"/>
              </a:rPr>
              <a:t>Gas level in Blynk App.</a:t>
            </a:r>
          </a:p>
        </p:txBody>
      </p:sp>
      <p:sp>
        <p:nvSpPr>
          <p:cNvPr id="11" name="TextBox 10">
            <a:extLst>
              <a:ext uri="{FF2B5EF4-FFF2-40B4-BE49-F238E27FC236}">
                <a16:creationId xmlns:a16="http://schemas.microsoft.com/office/drawing/2014/main" id="{8F899254-5E41-41C4-9332-F7C080DC14E0}"/>
              </a:ext>
            </a:extLst>
          </p:cNvPr>
          <p:cNvSpPr txBox="1"/>
          <p:nvPr/>
        </p:nvSpPr>
        <p:spPr>
          <a:xfrm>
            <a:off x="7678368" y="5871774"/>
            <a:ext cx="2236574" cy="369332"/>
          </a:xfrm>
          <a:prstGeom prst="rect">
            <a:avLst/>
          </a:prstGeom>
          <a:noFill/>
        </p:spPr>
        <p:txBody>
          <a:bodyPr wrap="none" rtlCol="0">
            <a:spAutoFit/>
          </a:bodyPr>
          <a:lstStyle/>
          <a:p>
            <a:r>
              <a:rPr lang="en-IN" dirty="0">
                <a:solidFill>
                  <a:schemeClr val="bg1"/>
                </a:solidFill>
                <a:latin typeface="Times New Roman" panose="02020603050405020304" pitchFamily="18" charset="0"/>
                <a:cs typeface="Times New Roman" panose="02020603050405020304" pitchFamily="18" charset="0"/>
              </a:rPr>
              <a:t>Gas Alert Notification</a:t>
            </a:r>
          </a:p>
        </p:txBody>
      </p:sp>
    </p:spTree>
    <p:extLst>
      <p:ext uri="{BB962C8B-B14F-4D97-AF65-F5344CB8AC3E}">
        <p14:creationId xmlns:p14="http://schemas.microsoft.com/office/powerpoint/2010/main" val="3133941791"/>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50BD9-791B-46B6-AF0C-712508DA34EE}"/>
              </a:ext>
            </a:extLst>
          </p:cNvPr>
          <p:cNvSpPr>
            <a:spLocks noGrp="1"/>
          </p:cNvSpPr>
          <p:nvPr>
            <p:ph type="title"/>
          </p:nvPr>
        </p:nvSpPr>
        <p:spPr>
          <a:xfrm>
            <a:off x="1141413" y="618518"/>
            <a:ext cx="9905998" cy="928180"/>
          </a:xfrm>
        </p:spPr>
        <p:txBody>
          <a:bodyPr/>
          <a:lstStyle/>
          <a:p>
            <a:r>
              <a:rPr lang="en-IN" dirty="0">
                <a:solidFill>
                  <a:schemeClr val="bg1"/>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0B826EC-FC1C-48A3-939A-58D4BCE102CC}"/>
              </a:ext>
            </a:extLst>
          </p:cNvPr>
          <p:cNvSpPr>
            <a:spLocks noGrp="1"/>
          </p:cNvSpPr>
          <p:nvPr>
            <p:ph idx="1"/>
          </p:nvPr>
        </p:nvSpPr>
        <p:spPr>
          <a:xfrm>
            <a:off x="1141412" y="1780162"/>
            <a:ext cx="9905999" cy="4459320"/>
          </a:xfrm>
        </p:spPr>
        <p:txBody>
          <a:bodyPr>
            <a:normAutofit lnSpcReduction="10000"/>
          </a:bodyPr>
          <a:lstStyle/>
          <a:p>
            <a:pPr marL="0" indent="0" algn="just">
              <a:spcAft>
                <a:spcPts val="1365"/>
              </a:spcAft>
              <a:buNone/>
            </a:pPr>
            <a:r>
              <a:rPr lang="en-IN" sz="1800" dirty="0">
                <a:solidFill>
                  <a:srgbClr val="000000"/>
                </a:solidFill>
                <a:effectLst/>
                <a:latin typeface="Times New Roman" panose="02020603050405020304" pitchFamily="18" charset="0"/>
                <a:ea typeface=""/>
              </a:rPr>
              <a:t>In this project, the idea proposed would be another step towards automation. This system would considerably reduce human intervention in the monitoring of the</a:t>
            </a:r>
            <a:r>
              <a:rPr lang="en-US" sz="1800" dirty="0">
                <a:solidFill>
                  <a:srgbClr val="000000"/>
                </a:solidFill>
                <a:effectLst/>
                <a:latin typeface="Times New Roman" panose="02020603050405020304" pitchFamily="18" charset="0"/>
                <a:ea typeface=""/>
              </a:rPr>
              <a:t> toxic gases</a:t>
            </a:r>
            <a:r>
              <a:rPr lang="en-IN" sz="1800" dirty="0">
                <a:solidFill>
                  <a:srgbClr val="000000"/>
                </a:solidFill>
                <a:effectLst/>
                <a:latin typeface="Times New Roman" panose="02020603050405020304" pitchFamily="18" charset="0"/>
                <a:ea typeface=""/>
              </a:rPr>
              <a:t> and hence will save much time. </a:t>
            </a:r>
            <a:r>
              <a:rPr lang="en-US" sz="1800" dirty="0">
                <a:solidFill>
                  <a:srgbClr val="000000"/>
                </a:solidFill>
                <a:effectLst/>
                <a:latin typeface="Times New Roman" panose="02020603050405020304" pitchFamily="18" charset="0"/>
                <a:ea typeface=""/>
              </a:rPr>
              <a:t>I</a:t>
            </a:r>
            <a:r>
              <a:rPr lang="en-IN" sz="1800" dirty="0">
                <a:solidFill>
                  <a:srgbClr val="000000"/>
                </a:solidFill>
                <a:effectLst/>
                <a:latin typeface="Times New Roman" panose="02020603050405020304" pitchFamily="18" charset="0"/>
                <a:ea typeface=""/>
              </a:rPr>
              <a:t>t will also ensure human safety by preventing accidents due to gas leakage </a:t>
            </a:r>
            <a:r>
              <a:rPr lang="en-US" sz="1800" dirty="0">
                <a:solidFill>
                  <a:srgbClr val="000000"/>
                </a:solidFill>
                <a:effectLst/>
                <a:latin typeface="Times New Roman" panose="02020603050405020304" pitchFamily="18" charset="0"/>
                <a:ea typeface=""/>
              </a:rPr>
              <a:t>through portable device </a:t>
            </a:r>
            <a:r>
              <a:rPr lang="en-IN" sz="1800" dirty="0">
                <a:solidFill>
                  <a:srgbClr val="000000"/>
                </a:solidFill>
                <a:effectLst/>
                <a:latin typeface="Times New Roman" panose="02020603050405020304" pitchFamily="18" charset="0"/>
                <a:ea typeface=""/>
              </a:rPr>
              <a:t>when there is gas leakage. </a:t>
            </a:r>
            <a:r>
              <a:rPr lang="en-US" sz="1800" dirty="0">
                <a:solidFill>
                  <a:srgbClr val="000000"/>
                </a:solidFill>
                <a:effectLst/>
                <a:latin typeface="Times New Roman" panose="02020603050405020304" pitchFamily="18" charset="0"/>
                <a:ea typeface=""/>
              </a:rPr>
              <a:t>T</a:t>
            </a:r>
            <a:r>
              <a:rPr lang="en-IN" sz="1800" dirty="0">
                <a:solidFill>
                  <a:srgbClr val="000000"/>
                </a:solidFill>
                <a:effectLst/>
                <a:latin typeface="Times New Roman" panose="02020603050405020304" pitchFamily="18" charset="0"/>
                <a:ea typeface=""/>
              </a:rPr>
              <a:t>his system can  be scaled for use in industries where heavy pipelines and cylinders are used. The proposed system when successfully implemented can also be used in mines where gas sensors will detect leakage of toxic gases and can send a signal for the emergency evacuation of workers.</a:t>
            </a:r>
          </a:p>
          <a:p>
            <a:pPr marL="0" indent="0" algn="just">
              <a:spcAft>
                <a:spcPts val="1365"/>
              </a:spcAft>
              <a:buNone/>
            </a:pPr>
            <a:r>
              <a:rPr lang="en-US" sz="1800" dirty="0">
                <a:solidFill>
                  <a:srgbClr val="000000"/>
                </a:solidFill>
                <a:effectLst/>
                <a:latin typeface="TimesNewRomanPSMT"/>
                <a:ea typeface="TimesNewRomanPSMT"/>
                <a:cs typeface="TimesNewRomanPSMT"/>
              </a:rPr>
              <a:t>In this system we have describe a new approach for gas leakage detection system at a low concentration. The leakage is detected with the help of  MQ-2 gas sensors. Sensor sends a signal to microcontroller. In the next step microcontroller sends an active signal to other externally connected devices. A quick response rate is provided by this system. With the help of this system the critical situations can be solved quickly over the manual methods which require large amount of time.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5127239"/>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066D7F-6608-4A28-BDE1-1DBEE75BD615}"/>
              </a:ext>
            </a:extLst>
          </p:cNvPr>
          <p:cNvSpPr>
            <a:spLocks noGrp="1"/>
          </p:cNvSpPr>
          <p:nvPr>
            <p:ph idx="1"/>
          </p:nvPr>
        </p:nvSpPr>
        <p:spPr>
          <a:xfrm>
            <a:off x="1141412" y="2509735"/>
            <a:ext cx="9905999" cy="3281465"/>
          </a:xfrm>
        </p:spPr>
        <p:txBody>
          <a:bodyPr/>
          <a:lstStyle/>
          <a:p>
            <a:pPr marL="0" indent="0">
              <a:buNone/>
            </a:pPr>
            <a:r>
              <a:rPr lang="en-IN" b="1" dirty="0">
                <a:solidFill>
                  <a:schemeClr val="bg1"/>
                </a:solidFill>
                <a:latin typeface="Times New Roman" panose="02020603050405020304" pitchFamily="18" charset="0"/>
                <a:cs typeface="Times New Roman" panose="02020603050405020304" pitchFamily="18" charset="0"/>
              </a:rPr>
              <a:t>                                    </a:t>
            </a:r>
            <a:r>
              <a:rPr lang="en-IN" sz="5400" b="1" dirty="0">
                <a:solidFill>
                  <a:schemeClr val="bg1"/>
                </a:solidFill>
                <a:latin typeface="Times New Roman" panose="02020603050405020304" pitchFamily="18" charset="0"/>
                <a:cs typeface="Times New Roman" panose="02020603050405020304" pitchFamily="18" charset="0"/>
              </a:rPr>
              <a:t>THANKYOU</a:t>
            </a:r>
          </a:p>
        </p:txBody>
      </p:sp>
    </p:spTree>
    <p:extLst>
      <p:ext uri="{BB962C8B-B14F-4D97-AF65-F5344CB8AC3E}">
        <p14:creationId xmlns:p14="http://schemas.microsoft.com/office/powerpoint/2010/main" val="2432263922"/>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otalTime>823</TotalTime>
  <Words>1629</Words>
  <Application>Microsoft Office PowerPoint</Application>
  <PresentationFormat>Widescreen</PresentationFormat>
  <Paragraphs>107</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Symbol</vt:lpstr>
      <vt:lpstr>Times New Roman</vt:lpstr>
      <vt:lpstr>TimesNewRomanPSMT</vt:lpstr>
      <vt:lpstr>Tw Cen MT</vt:lpstr>
      <vt:lpstr>Circuit</vt:lpstr>
      <vt:lpstr> Iot based hazardous gas monitoring                                  system</vt:lpstr>
      <vt:lpstr>Group no. 13</vt:lpstr>
      <vt:lpstr>Presentation outline:</vt:lpstr>
      <vt:lpstr>Introduction</vt:lpstr>
      <vt:lpstr>Recent industrial Accident</vt:lpstr>
      <vt:lpstr>PowerPoint Presentation</vt:lpstr>
      <vt:lpstr>PowerPoint Presentation</vt:lpstr>
      <vt:lpstr>OBJECTIVE</vt:lpstr>
      <vt:lpstr>Technology platform</vt:lpstr>
      <vt:lpstr>Requirement SPECIFICATION</vt:lpstr>
      <vt:lpstr>Nodemcu</vt:lpstr>
      <vt:lpstr>Mq2 Sensor</vt:lpstr>
      <vt:lpstr>Arduino IDE</vt:lpstr>
      <vt:lpstr>Blynk Application </vt:lpstr>
      <vt:lpstr>Blynk Setup</vt:lpstr>
      <vt:lpstr>Methodology</vt:lpstr>
      <vt:lpstr>PowerPoint Presentation</vt:lpstr>
      <vt:lpstr>Circuit Design</vt:lpstr>
      <vt:lpstr>Connections</vt:lpstr>
      <vt:lpstr>working</vt:lpstr>
      <vt:lpstr>result</vt:lpstr>
      <vt:lpstr>Snapshot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Iot based hazardous gas monitoring                                  system</dc:title>
  <dc:creator>shruti verma</dc:creator>
  <cp:lastModifiedBy>shruti verma</cp:lastModifiedBy>
  <cp:revision>50</cp:revision>
  <dcterms:created xsi:type="dcterms:W3CDTF">2020-08-31T15:30:43Z</dcterms:created>
  <dcterms:modified xsi:type="dcterms:W3CDTF">2020-11-26T08:30:12Z</dcterms:modified>
</cp:coreProperties>
</file>